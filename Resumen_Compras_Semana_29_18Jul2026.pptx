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4A5568"/>
                </a:solidFill>
                <a:latin typeface="Calibri"/>
              </a:defRPr>
            </a:pPr>
            <a:r>
              <a:rPr sz="1000" b="0" i="0" u="none" strike="noStrike">
                <a:solidFill>
                  <a:srgbClr val="4A5568"/>
                </a:solidFill>
                <a:latin typeface="Calibri"/>
              </a:rPr>
              <a:t>OC Abiertas por Semana 2026 — MATERIA PRIMA (MP) (Vigentes vs Vencidas)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Vigentes</c:v>
                </c:pt>
              </c:strCache>
            </c:strRef>
          </c:tx>
          <c:spPr>
            <a:solidFill>
              <a:srgbClr val="0096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2C3E5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Sheet1!$A$2:$A$16</c:f>
              <c:multiLvlStrCache>
                <c:ptCount val="15"/>
                <c:lvl>
                  <c:pt idx="0">
                    <c:v>S13</c:v>
                  </c:pt>
                  <c:pt idx="1">
                    <c:v>S19</c:v>
                  </c:pt>
                  <c:pt idx="2">
                    <c:v>S22</c:v>
                  </c:pt>
                  <c:pt idx="3">
                    <c:v>S23</c:v>
                  </c:pt>
                  <c:pt idx="4">
                    <c:v>S24</c:v>
                  </c:pt>
                  <c:pt idx="5">
                    <c:v>S26</c:v>
                  </c:pt>
                  <c:pt idx="6">
                    <c:v>S27</c:v>
                  </c:pt>
                  <c:pt idx="7">
                    <c:v>S28</c:v>
                  </c:pt>
                  <c:pt idx="8">
                    <c:v>S29</c:v>
                  </c:pt>
                  <c:pt idx="9">
                    <c:v>S30</c:v>
                  </c:pt>
                  <c:pt idx="10">
                    <c:v>S31</c:v>
                  </c:pt>
                  <c:pt idx="11">
                    <c:v>S32</c:v>
                  </c:pt>
                  <c:pt idx="12">
                    <c:v>S33</c:v>
                  </c:pt>
                  <c:pt idx="13">
                    <c:v>S34</c:v>
                  </c:pt>
                  <c:pt idx="14">
                    <c:v>S35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122</c:v>
                </c:pt>
                <c:pt idx="10">
                  <c:v>118</c:v>
                </c:pt>
                <c:pt idx="11">
                  <c:v>112</c:v>
                </c:pt>
                <c:pt idx="12">
                  <c:v>83</c:v>
                </c:pt>
                <c:pt idx="13">
                  <c:v>48</c:v>
                </c:pt>
                <c:pt idx="14">
                  <c:v>12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Vencidas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2C3E5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Sheet1!$A$2:$A$16</c:f>
              <c:multiLvlStrCache>
                <c:ptCount val="15"/>
                <c:lvl>
                  <c:pt idx="0">
                    <c:v>S13</c:v>
                  </c:pt>
                  <c:pt idx="1">
                    <c:v>S19</c:v>
                  </c:pt>
                  <c:pt idx="2">
                    <c:v>S22</c:v>
                  </c:pt>
                  <c:pt idx="3">
                    <c:v>S23</c:v>
                  </c:pt>
                  <c:pt idx="4">
                    <c:v>S24</c:v>
                  </c:pt>
                  <c:pt idx="5">
                    <c:v>S26</c:v>
                  </c:pt>
                  <c:pt idx="6">
                    <c:v>S27</c:v>
                  </c:pt>
                  <c:pt idx="7">
                    <c:v>S28</c:v>
                  </c:pt>
                  <c:pt idx="8">
                    <c:v>S29</c:v>
                  </c:pt>
                  <c:pt idx="9">
                    <c:v>S30</c:v>
                  </c:pt>
                  <c:pt idx="10">
                    <c:v>S31</c:v>
                  </c:pt>
                  <c:pt idx="11">
                    <c:v>S32</c:v>
                  </c:pt>
                  <c:pt idx="12">
                    <c:v>S33</c:v>
                  </c:pt>
                  <c:pt idx="13">
                    <c:v>S34</c:v>
                  </c:pt>
                  <c:pt idx="14">
                    <c:v>S35</c:v>
                  </c:pt>
                </c:lvl>
              </c:multiLvlStrCache>
            </c:multiLvl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2</c:v>
                </c:pt>
                <c:pt idx="4">
                  <c:v>1</c:v>
                </c:pt>
                <c:pt idx="5">
                  <c:v>1</c:v>
                </c:pt>
                <c:pt idx="6">
                  <c:v>9</c:v>
                </c:pt>
                <c:pt idx="7">
                  <c:v>13</c:v>
                </c:pt>
                <c:pt idx="8">
                  <c:v>36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2C3E5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4A5568"/>
                </a:solidFill>
                <a:latin typeface="Calibri"/>
              </a:defRPr>
            </a:pPr>
            <a:r>
              <a:rPr sz="1000" b="0" i="0" u="none" strike="noStrike">
                <a:solidFill>
                  <a:srgbClr val="4A5568"/>
                </a:solidFill>
                <a:latin typeface="Calibri"/>
              </a:rPr>
              <a:t>OC Abiertas por Semana 2026 — MRO (Vigentes vs Vencidas)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Vigentes</c:v>
                </c:pt>
              </c:strCache>
            </c:strRef>
          </c:tx>
          <c:spPr>
            <a:solidFill>
              <a:srgbClr val="0096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2C3E5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S23</c:v>
                  </c:pt>
                  <c:pt idx="1">
                    <c:v>S24</c:v>
                  </c:pt>
                  <c:pt idx="2">
                    <c:v>S25</c:v>
                  </c:pt>
                  <c:pt idx="3">
                    <c:v>S26</c:v>
                  </c:pt>
                  <c:pt idx="4">
                    <c:v>S27</c:v>
                  </c:pt>
                  <c:pt idx="5">
                    <c:v>S28</c:v>
                  </c:pt>
                  <c:pt idx="6">
                    <c:v>S29</c:v>
                  </c:pt>
                  <c:pt idx="7">
                    <c:v>S30</c:v>
                  </c:pt>
                  <c:pt idx="8">
                    <c:v>S31</c:v>
                  </c:pt>
                  <c:pt idx="9">
                    <c:v>S32</c:v>
                  </c:pt>
                  <c:pt idx="10">
                    <c:v>S33</c:v>
                  </c:pt>
                  <c:pt idx="11">
                    <c:v>S34</c:v>
                  </c:pt>
                  <c:pt idx="12">
                    <c:v>S35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59</c:v>
                </c:pt>
                <c:pt idx="8">
                  <c:v>38</c:v>
                </c:pt>
                <c:pt idx="9">
                  <c:v>22</c:v>
                </c:pt>
                <c:pt idx="10">
                  <c:v>22</c:v>
                </c:pt>
                <c:pt idx="11">
                  <c:v>10</c:v>
                </c:pt>
                <c:pt idx="12">
                  <c:v>24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Vencidas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2C3E5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S23</c:v>
                  </c:pt>
                  <c:pt idx="1">
                    <c:v>S24</c:v>
                  </c:pt>
                  <c:pt idx="2">
                    <c:v>S25</c:v>
                  </c:pt>
                  <c:pt idx="3">
                    <c:v>S26</c:v>
                  </c:pt>
                  <c:pt idx="4">
                    <c:v>S27</c:v>
                  </c:pt>
                  <c:pt idx="5">
                    <c:v>S28</c:v>
                  </c:pt>
                  <c:pt idx="6">
                    <c:v>S29</c:v>
                  </c:pt>
                  <c:pt idx="7">
                    <c:v>S30</c:v>
                  </c:pt>
                  <c:pt idx="8">
                    <c:v>S31</c:v>
                  </c:pt>
                  <c:pt idx="9">
                    <c:v>S32</c:v>
                  </c:pt>
                  <c:pt idx="10">
                    <c:v>S33</c:v>
                  </c:pt>
                  <c:pt idx="11">
                    <c:v>S34</c:v>
                  </c:pt>
                  <c:pt idx="12">
                    <c:v>S35</c:v>
                  </c:pt>
                </c:lvl>
              </c:multiLvlStrCache>
            </c:multiLvl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2</c:v>
                </c:pt>
                <c:pt idx="4">
                  <c:v>13</c:v>
                </c:pt>
                <c:pt idx="5">
                  <c:v>9</c:v>
                </c:pt>
                <c:pt idx="6">
                  <c:v>20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2C3E5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50" b="0" i="0" u="none" strike="noStrike">
                <a:solidFill>
                  <a:srgbClr val="4A5568"/>
                </a:solidFill>
                <a:latin typeface="Calibri"/>
              </a:defRPr>
            </a:pPr>
            <a:r>
              <a:rPr sz="950" b="0" i="0" u="none" strike="noStrike">
                <a:solidFill>
                  <a:srgbClr val="4A5568"/>
                </a:solidFill>
                <a:latin typeface="Calibri"/>
              </a:rPr>
              <a:t>Pedido Perfecto Mensual — MATERIA PRIMA (MP) (OCs por Mes 2026, hasta 17/Jul)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Rec. al 100%</c:v>
                </c:pt>
              </c:strCache>
            </c:strRef>
          </c:tx>
          <c:spPr>
            <a:solidFill>
              <a:srgbClr val="0096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Enero</c:v>
                  </c:pt>
                  <c:pt idx="1">
                    <c:v>Febrero</c:v>
                  </c:pt>
                  <c:pt idx="2">
                    <c:v>Marzo</c:v>
                  </c:pt>
                  <c:pt idx="3">
                    <c:v>Abril</c:v>
                  </c:pt>
                  <c:pt idx="4">
                    <c:v>Mayo</c:v>
                  </c:pt>
                  <c:pt idx="5">
                    <c:v>Junio</c:v>
                  </c:pt>
                  <c:pt idx="6">
                    <c:v>Julio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518</c:v>
                </c:pt>
                <c:pt idx="1">
                  <c:v>493</c:v>
                </c:pt>
                <c:pt idx="2">
                  <c:v>459</c:v>
                </c:pt>
                <c:pt idx="3">
                  <c:v>581</c:v>
                </c:pt>
                <c:pt idx="4">
                  <c:v>657</c:v>
                </c:pt>
                <c:pt idx="5">
                  <c:v>407</c:v>
                </c:pt>
                <c:pt idx="6">
                  <c:v>274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Parcial</c:v>
                </c:pt>
              </c:strCache>
            </c:strRef>
          </c:tx>
          <c:spPr>
            <a:solidFill>
              <a:srgbClr val="E67E2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Enero</c:v>
                  </c:pt>
                  <c:pt idx="1">
                    <c:v>Febrero</c:v>
                  </c:pt>
                  <c:pt idx="2">
                    <c:v>Marzo</c:v>
                  </c:pt>
                  <c:pt idx="3">
                    <c:v>Abril</c:v>
                  </c:pt>
                  <c:pt idx="4">
                    <c:v>Mayo</c:v>
                  </c:pt>
                  <c:pt idx="5">
                    <c:v>Junio</c:v>
                  </c:pt>
                  <c:pt idx="6">
                    <c:v>Julio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57</c:v>
                </c:pt>
                <c:pt idx="1">
                  <c:v>49</c:v>
                </c:pt>
                <c:pt idx="2">
                  <c:v>30</c:v>
                </c:pt>
                <c:pt idx="3">
                  <c:v>45</c:v>
                </c:pt>
                <c:pt idx="4">
                  <c:v>88</c:v>
                </c:pt>
                <c:pt idx="5">
                  <c:v>62</c:v>
                </c:pt>
                <c:pt idx="6">
                  <c:v>22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No Recibido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Enero</c:v>
                  </c:pt>
                  <c:pt idx="1">
                    <c:v>Febrero</c:v>
                  </c:pt>
                  <c:pt idx="2">
                    <c:v>Marzo</c:v>
                  </c:pt>
                  <c:pt idx="3">
                    <c:v>Abril</c:v>
                  </c:pt>
                  <c:pt idx="4">
                    <c:v>Mayo</c:v>
                  </c:pt>
                  <c:pt idx="5">
                    <c:v>Junio</c:v>
                  </c:pt>
                  <c:pt idx="6">
                    <c:v>Julio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92</c:v>
                </c:pt>
                <c:pt idx="1">
                  <c:v>75</c:v>
                </c:pt>
                <c:pt idx="2">
                  <c:v>64</c:v>
                </c:pt>
                <c:pt idx="3">
                  <c:v>49</c:v>
                </c:pt>
                <c:pt idx="4">
                  <c:v>90</c:v>
                </c:pt>
                <c:pt idx="5">
                  <c:v>76</c:v>
                </c:pt>
                <c:pt idx="6">
                  <c:v>81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50" b="0" i="0" u="none" strike="noStrike">
                <a:solidFill>
                  <a:srgbClr val="4A5568"/>
                </a:solidFill>
                <a:latin typeface="Calibri"/>
              </a:defRPr>
            </a:pPr>
            <a:r>
              <a:rPr sz="950" b="0" i="0" u="none" strike="noStrike">
                <a:solidFill>
                  <a:srgbClr val="4A5568"/>
                </a:solidFill>
                <a:latin typeface="Calibri"/>
              </a:rPr>
              <a:t>Pedido Perfecto Mensual — MRO (OCs por Mes 2026, hasta 17/Jul)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Rec. al 100%</c:v>
                </c:pt>
              </c:strCache>
            </c:strRef>
          </c:tx>
          <c:spPr>
            <a:solidFill>
              <a:srgbClr val="0096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Enero</c:v>
                  </c:pt>
                  <c:pt idx="1">
                    <c:v>Febrero</c:v>
                  </c:pt>
                  <c:pt idx="2">
                    <c:v>Marzo</c:v>
                  </c:pt>
                  <c:pt idx="3">
                    <c:v>Abril</c:v>
                  </c:pt>
                  <c:pt idx="4">
                    <c:v>Mayo</c:v>
                  </c:pt>
                  <c:pt idx="5">
                    <c:v>Junio</c:v>
                  </c:pt>
                  <c:pt idx="6">
                    <c:v>Julio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49</c:v>
                </c:pt>
                <c:pt idx="1">
                  <c:v>76</c:v>
                </c:pt>
                <c:pt idx="2">
                  <c:v>103</c:v>
                </c:pt>
                <c:pt idx="3">
                  <c:v>94</c:v>
                </c:pt>
                <c:pt idx="4">
                  <c:v>95</c:v>
                </c:pt>
                <c:pt idx="5">
                  <c:v>84</c:v>
                </c:pt>
                <c:pt idx="6">
                  <c:v>72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Parcial</c:v>
                </c:pt>
              </c:strCache>
            </c:strRef>
          </c:tx>
          <c:spPr>
            <a:solidFill>
              <a:srgbClr val="E67E2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Enero</c:v>
                  </c:pt>
                  <c:pt idx="1">
                    <c:v>Febrero</c:v>
                  </c:pt>
                  <c:pt idx="2">
                    <c:v>Marzo</c:v>
                  </c:pt>
                  <c:pt idx="3">
                    <c:v>Abril</c:v>
                  </c:pt>
                  <c:pt idx="4">
                    <c:v>Mayo</c:v>
                  </c:pt>
                  <c:pt idx="5">
                    <c:v>Junio</c:v>
                  </c:pt>
                  <c:pt idx="6">
                    <c:v>Julio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17</c:v>
                </c:pt>
                <c:pt idx="1">
                  <c:v>20</c:v>
                </c:pt>
                <c:pt idx="2">
                  <c:v>11</c:v>
                </c:pt>
                <c:pt idx="3">
                  <c:v>13</c:v>
                </c:pt>
                <c:pt idx="4">
                  <c:v>15</c:v>
                </c:pt>
                <c:pt idx="5">
                  <c:v>14</c:v>
                </c:pt>
                <c:pt idx="6">
                  <c:v>18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No Recibido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Enero</c:v>
                  </c:pt>
                  <c:pt idx="1">
                    <c:v>Febrero</c:v>
                  </c:pt>
                  <c:pt idx="2">
                    <c:v>Marzo</c:v>
                  </c:pt>
                  <c:pt idx="3">
                    <c:v>Abril</c:v>
                  </c:pt>
                  <c:pt idx="4">
                    <c:v>Mayo</c:v>
                  </c:pt>
                  <c:pt idx="5">
                    <c:v>Junio</c:v>
                  </c:pt>
                  <c:pt idx="6">
                    <c:v>Julio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17</c:v>
                </c:pt>
                <c:pt idx="1">
                  <c:v>26</c:v>
                </c:pt>
                <c:pt idx="2">
                  <c:v>31</c:v>
                </c:pt>
                <c:pt idx="3">
                  <c:v>26</c:v>
                </c:pt>
                <c:pt idx="4">
                  <c:v>43</c:v>
                </c:pt>
                <c:pt idx="5">
                  <c:v>40</c:v>
                </c:pt>
                <c:pt idx="6">
                  <c:v>61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3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01168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DE ÓRDENES DE COMPRA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315468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Coordinación Compras — Materia Prima y MRO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3749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B8C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29   |   Al 18 de Julio de 2026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A5F5A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Afal   |   Costa Norte Food Service Solutions   |   Julio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09728"/>
            <a:ext cx="54864" cy="34747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347472" y="7315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EJECUTIVO DE ÓRDENES DE COMPRA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858000" y="7315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Afal  |  Costa Norte Food Service Solutions  |  Semana 29  |  Al 18 de Julio de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28600" y="530352"/>
            <a:ext cx="11521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Cálculo por OC única. Órdenes recibidas parcialmente se contabilizan como cerradas. Vencidas = Fecha de Necesidad &lt; Al 18 de Julio de 2026.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0" y="6601968"/>
            <a:ext cx="1219169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Afal  |  Costa Norte Food Service Solutions  |  Semana 29  |  Al 18 de Julio de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" y="731520"/>
            <a:ext cx="5577840" cy="310896"/>
          </a:xfrm>
          <a:prstGeom prst="roundRect">
            <a:avLst>
              <a:gd name="adj" fmla="val 11765"/>
            </a:avLst>
          </a:prstGeom>
          <a:solidFill>
            <a:srgbClr val="1B4D47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" y="731520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 PRIMA (MP)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55080" y="731520"/>
            <a:ext cx="5577840" cy="310896"/>
          </a:xfrm>
          <a:prstGeom prst="roundRect">
            <a:avLst>
              <a:gd name="adj" fmla="val 11765"/>
            </a:avLst>
          </a:prstGeom>
          <a:solidFill>
            <a:srgbClr val="1B4D47"/>
          </a:solidFill>
          <a:ln/>
        </p:spPr>
      </p:sp>
      <p:sp>
        <p:nvSpPr>
          <p:cNvPr id="10" name="Text 8"/>
          <p:cNvSpPr/>
          <p:nvPr/>
        </p:nvSpPr>
        <p:spPr>
          <a:xfrm>
            <a:off x="6355080" y="731520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46888" y="1078992"/>
            <a:ext cx="2670048" cy="960120"/>
          </a:xfrm>
          <a:prstGeom prst="roundRect">
            <a:avLst>
              <a:gd name="adj" fmla="val 5714"/>
            </a:avLst>
          </a:prstGeom>
          <a:solidFill>
            <a:srgbClr val="E8F5F3"/>
          </a:solidFill>
          <a:ln/>
        </p:spPr>
      </p:sp>
      <p:sp>
        <p:nvSpPr>
          <p:cNvPr id="12" name="Text 10"/>
          <p:cNvSpPr/>
          <p:nvPr/>
        </p:nvSpPr>
        <p:spPr>
          <a:xfrm>
            <a:off x="246888" y="1106424"/>
            <a:ext cx="2670048" cy="556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560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246888" y="1655064"/>
            <a:ext cx="2670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 Abiertas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6888" y="1828800"/>
            <a:ext cx="2670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(excl. recibidas parciales)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063240" y="1078992"/>
            <a:ext cx="2670048" cy="960120"/>
          </a:xfrm>
          <a:prstGeom prst="roundRect">
            <a:avLst>
              <a:gd name="adj" fmla="val 5714"/>
            </a:avLst>
          </a:prstGeom>
          <a:solidFill>
            <a:srgbClr val="FDECEA"/>
          </a:solidFill>
          <a:ln/>
        </p:spPr>
      </p:sp>
      <p:sp>
        <p:nvSpPr>
          <p:cNvPr id="16" name="Text 14"/>
          <p:cNvSpPr/>
          <p:nvPr/>
        </p:nvSpPr>
        <p:spPr>
          <a:xfrm>
            <a:off x="3063240" y="1106424"/>
            <a:ext cx="2670048" cy="556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3063240" y="1655064"/>
            <a:ext cx="2670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 Vencidas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063240" y="1828800"/>
            <a:ext cx="2670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11.6% del total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373368" y="1078992"/>
            <a:ext cx="2670048" cy="960120"/>
          </a:xfrm>
          <a:prstGeom prst="roundRect">
            <a:avLst>
              <a:gd name="adj" fmla="val 5714"/>
            </a:avLst>
          </a:prstGeom>
          <a:solidFill>
            <a:srgbClr val="E8F5F3"/>
          </a:solidFill>
          <a:ln/>
        </p:spPr>
      </p:sp>
      <p:sp>
        <p:nvSpPr>
          <p:cNvPr id="20" name="Text 18"/>
          <p:cNvSpPr/>
          <p:nvPr/>
        </p:nvSpPr>
        <p:spPr>
          <a:xfrm>
            <a:off x="6373368" y="1106424"/>
            <a:ext cx="2670048" cy="556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222</a:t>
            </a:r>
            <a:endParaRPr lang="en-US" sz="4200" dirty="0"/>
          </a:p>
        </p:txBody>
      </p:sp>
      <p:sp>
        <p:nvSpPr>
          <p:cNvPr id="21" name="Text 19"/>
          <p:cNvSpPr/>
          <p:nvPr/>
        </p:nvSpPr>
        <p:spPr>
          <a:xfrm>
            <a:off x="6373368" y="1655064"/>
            <a:ext cx="2670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 Abiertas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73368" y="1828800"/>
            <a:ext cx="2670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(excl. recibidas parciales)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9189720" y="1078992"/>
            <a:ext cx="2670048" cy="960120"/>
          </a:xfrm>
          <a:prstGeom prst="roundRect">
            <a:avLst>
              <a:gd name="adj" fmla="val 5714"/>
            </a:avLst>
          </a:prstGeom>
          <a:solidFill>
            <a:srgbClr val="FDECEA"/>
          </a:solidFill>
          <a:ln/>
        </p:spPr>
      </p:sp>
      <p:sp>
        <p:nvSpPr>
          <p:cNvPr id="24" name="Text 22"/>
          <p:cNvSpPr/>
          <p:nvPr/>
        </p:nvSpPr>
        <p:spPr>
          <a:xfrm>
            <a:off x="9189720" y="1106424"/>
            <a:ext cx="2670048" cy="556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4200" dirty="0"/>
          </a:p>
        </p:txBody>
      </p:sp>
      <p:sp>
        <p:nvSpPr>
          <p:cNvPr id="25" name="Text 23"/>
          <p:cNvSpPr/>
          <p:nvPr/>
        </p:nvSpPr>
        <p:spPr>
          <a:xfrm>
            <a:off x="9189720" y="1655064"/>
            <a:ext cx="2670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 Vencidas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189720" y="1828800"/>
            <a:ext cx="2670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21.2% del total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74320" y="2148840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por Comprador — MP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00800" y="2148840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por Comprador — MRO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274320" y="2432304"/>
            <a:ext cx="1691640" cy="256032"/>
          </a:xfrm>
          <a:prstGeom prst="roundRect">
            <a:avLst>
              <a:gd name="adj" fmla="val 17857"/>
            </a:avLst>
          </a:prstGeom>
          <a:solidFill>
            <a:srgbClr val="1B4D47"/>
          </a:solidFill>
          <a:ln/>
        </p:spPr>
      </p:sp>
      <p:sp>
        <p:nvSpPr>
          <p:cNvPr id="30" name="Text 28"/>
          <p:cNvSpPr/>
          <p:nvPr/>
        </p:nvSpPr>
        <p:spPr>
          <a:xfrm>
            <a:off x="274320" y="2432304"/>
            <a:ext cx="1691640" cy="25603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Victor Galván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066544" y="2468880"/>
            <a:ext cx="2404872" cy="182880"/>
          </a:xfrm>
          <a:prstGeom prst="rect">
            <a:avLst/>
          </a:prstGeom>
          <a:solidFill>
            <a:srgbClr val="009688"/>
          </a:solidFill>
          <a:ln/>
        </p:spPr>
      </p:sp>
      <p:sp>
        <p:nvSpPr>
          <p:cNvPr id="32" name="Text 30"/>
          <p:cNvSpPr/>
          <p:nvPr/>
        </p:nvSpPr>
        <p:spPr>
          <a:xfrm>
            <a:off x="4599432" y="24323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038344" y="243230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274320" y="2715768"/>
            <a:ext cx="1691640" cy="256032"/>
          </a:xfrm>
          <a:prstGeom prst="roundRect">
            <a:avLst>
              <a:gd name="adj" fmla="val 17857"/>
            </a:avLst>
          </a:prstGeom>
          <a:solidFill>
            <a:srgbClr val="1B4D47"/>
          </a:solidFill>
          <a:ln/>
        </p:spPr>
      </p:sp>
      <p:sp>
        <p:nvSpPr>
          <p:cNvPr id="35" name="Text 33"/>
          <p:cNvSpPr/>
          <p:nvPr/>
        </p:nvSpPr>
        <p:spPr>
          <a:xfrm>
            <a:off x="274320" y="2715768"/>
            <a:ext cx="1691640" cy="25603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Mario Rosas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066544" y="2752344"/>
            <a:ext cx="2145886" cy="182880"/>
          </a:xfrm>
          <a:prstGeom prst="rect">
            <a:avLst/>
          </a:prstGeom>
          <a:solidFill>
            <a:srgbClr val="009688"/>
          </a:solidFill>
          <a:ln/>
        </p:spPr>
      </p:sp>
      <p:sp>
        <p:nvSpPr>
          <p:cNvPr id="37" name="Text 35"/>
          <p:cNvSpPr/>
          <p:nvPr/>
        </p:nvSpPr>
        <p:spPr>
          <a:xfrm>
            <a:off x="4599432" y="271576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174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038344" y="271576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31%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274320" y="2999232"/>
            <a:ext cx="1691640" cy="256032"/>
          </a:xfrm>
          <a:prstGeom prst="roundRect">
            <a:avLst>
              <a:gd name="adj" fmla="val 17857"/>
            </a:avLst>
          </a:prstGeom>
          <a:solidFill>
            <a:srgbClr val="1B4D47"/>
          </a:solidFill>
          <a:ln/>
        </p:spPr>
      </p:sp>
      <p:sp>
        <p:nvSpPr>
          <p:cNvPr id="40" name="Text 38"/>
          <p:cNvSpPr/>
          <p:nvPr/>
        </p:nvSpPr>
        <p:spPr>
          <a:xfrm>
            <a:off x="274320" y="2999232"/>
            <a:ext cx="1691640" cy="25603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Oswaldo Martínez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2066544" y="3035808"/>
            <a:ext cx="1603248" cy="182880"/>
          </a:xfrm>
          <a:prstGeom prst="rect">
            <a:avLst/>
          </a:prstGeom>
          <a:solidFill>
            <a:srgbClr val="009688"/>
          </a:solidFill>
          <a:ln/>
        </p:spPr>
      </p:sp>
      <p:sp>
        <p:nvSpPr>
          <p:cNvPr id="42" name="Text 40"/>
          <p:cNvSpPr/>
          <p:nvPr/>
        </p:nvSpPr>
        <p:spPr>
          <a:xfrm>
            <a:off x="4599432" y="29992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038344" y="299923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23%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274320" y="3282696"/>
            <a:ext cx="1691640" cy="256032"/>
          </a:xfrm>
          <a:prstGeom prst="roundRect">
            <a:avLst>
              <a:gd name="adj" fmla="val 17857"/>
            </a:avLst>
          </a:prstGeom>
          <a:solidFill>
            <a:srgbClr val="1B4D47"/>
          </a:solidFill>
          <a:ln/>
        </p:spPr>
      </p:sp>
      <p:sp>
        <p:nvSpPr>
          <p:cNvPr id="45" name="Text 43"/>
          <p:cNvSpPr/>
          <p:nvPr/>
        </p:nvSpPr>
        <p:spPr>
          <a:xfrm>
            <a:off x="274320" y="3282696"/>
            <a:ext cx="1691640" cy="25603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Antonio de la Cruz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2066544" y="3319272"/>
            <a:ext cx="678297" cy="182880"/>
          </a:xfrm>
          <a:prstGeom prst="rect">
            <a:avLst/>
          </a:prstGeom>
          <a:solidFill>
            <a:srgbClr val="009688"/>
          </a:solidFill>
          <a:ln/>
        </p:spPr>
      </p:sp>
      <p:sp>
        <p:nvSpPr>
          <p:cNvPr id="47" name="Text 45"/>
          <p:cNvSpPr/>
          <p:nvPr/>
        </p:nvSpPr>
        <p:spPr>
          <a:xfrm>
            <a:off x="4599432" y="328269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5038344" y="328269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274320" y="3566160"/>
            <a:ext cx="1691640" cy="256032"/>
          </a:xfrm>
          <a:prstGeom prst="roundRect">
            <a:avLst>
              <a:gd name="adj" fmla="val 17857"/>
            </a:avLst>
          </a:prstGeom>
          <a:solidFill>
            <a:srgbClr val="1B4D47"/>
          </a:solidFill>
          <a:ln/>
        </p:spPr>
      </p:sp>
      <p:sp>
        <p:nvSpPr>
          <p:cNvPr id="50" name="Text 48"/>
          <p:cNvSpPr/>
          <p:nvPr/>
        </p:nvSpPr>
        <p:spPr>
          <a:xfrm>
            <a:off x="274320" y="3566160"/>
            <a:ext cx="1691640" cy="25603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Zulma Valera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2066544" y="3602736"/>
            <a:ext cx="73996" cy="182880"/>
          </a:xfrm>
          <a:prstGeom prst="rect">
            <a:avLst/>
          </a:prstGeom>
          <a:solidFill>
            <a:srgbClr val="009688"/>
          </a:solidFill>
          <a:ln/>
        </p:spPr>
      </p:sp>
      <p:sp>
        <p:nvSpPr>
          <p:cNvPr id="52" name="Text 50"/>
          <p:cNvSpPr/>
          <p:nvPr/>
        </p:nvSpPr>
        <p:spPr>
          <a:xfrm>
            <a:off x="4599432" y="35661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5038344" y="356616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6400800" y="2432304"/>
            <a:ext cx="1691640" cy="256032"/>
          </a:xfrm>
          <a:prstGeom prst="roundRect">
            <a:avLst>
              <a:gd name="adj" fmla="val 17857"/>
            </a:avLst>
          </a:prstGeom>
          <a:solidFill>
            <a:srgbClr val="1B4D47"/>
          </a:solidFill>
          <a:ln/>
        </p:spPr>
      </p:sp>
      <p:sp>
        <p:nvSpPr>
          <p:cNvPr id="55" name="Text 53"/>
          <p:cNvSpPr/>
          <p:nvPr/>
        </p:nvSpPr>
        <p:spPr>
          <a:xfrm>
            <a:off x="6400800" y="2432304"/>
            <a:ext cx="1691640" cy="25603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Jesús Manuel Cruz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8193024" y="2468880"/>
            <a:ext cx="2404872" cy="182880"/>
          </a:xfrm>
          <a:prstGeom prst="rect">
            <a:avLst/>
          </a:prstGeom>
          <a:solidFill>
            <a:srgbClr val="009688"/>
          </a:solidFill>
          <a:ln/>
        </p:spPr>
      </p:sp>
      <p:sp>
        <p:nvSpPr>
          <p:cNvPr id="57" name="Text 55"/>
          <p:cNvSpPr/>
          <p:nvPr/>
        </p:nvSpPr>
        <p:spPr>
          <a:xfrm>
            <a:off x="10725912" y="24323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11164824" y="243230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</a:t>
            </a:r>
            <a:endParaRPr lang="en-US" sz="1150" dirty="0"/>
          </a:p>
        </p:txBody>
      </p:sp>
      <p:sp>
        <p:nvSpPr>
          <p:cNvPr id="59" name="Shape 57"/>
          <p:cNvSpPr/>
          <p:nvPr/>
        </p:nvSpPr>
        <p:spPr>
          <a:xfrm>
            <a:off x="6400800" y="2715768"/>
            <a:ext cx="1691640" cy="256032"/>
          </a:xfrm>
          <a:prstGeom prst="roundRect">
            <a:avLst>
              <a:gd name="adj" fmla="val 17857"/>
            </a:avLst>
          </a:prstGeom>
          <a:solidFill>
            <a:srgbClr val="1B4D47"/>
          </a:solidFill>
          <a:ln/>
        </p:spPr>
      </p:sp>
      <p:sp>
        <p:nvSpPr>
          <p:cNvPr id="60" name="Text 58"/>
          <p:cNvSpPr/>
          <p:nvPr/>
        </p:nvSpPr>
        <p:spPr>
          <a:xfrm>
            <a:off x="6400800" y="2715768"/>
            <a:ext cx="1691640" cy="25603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Pablo Arroyo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8193024" y="2752344"/>
            <a:ext cx="901827" cy="182880"/>
          </a:xfrm>
          <a:prstGeom prst="rect">
            <a:avLst/>
          </a:prstGeom>
          <a:solidFill>
            <a:srgbClr val="009688"/>
          </a:solidFill>
          <a:ln/>
        </p:spPr>
      </p:sp>
      <p:sp>
        <p:nvSpPr>
          <p:cNvPr id="62" name="Text 60"/>
          <p:cNvSpPr/>
          <p:nvPr/>
        </p:nvSpPr>
        <p:spPr>
          <a:xfrm>
            <a:off x="10725912" y="271576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11164824" y="271576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27%</a:t>
            </a:r>
            <a:endParaRPr lang="en-US" sz="1150" dirty="0"/>
          </a:p>
        </p:txBody>
      </p:sp>
      <p:sp>
        <p:nvSpPr>
          <p:cNvPr id="64" name="Shape 62"/>
          <p:cNvSpPr/>
          <p:nvPr/>
        </p:nvSpPr>
        <p:spPr>
          <a:xfrm>
            <a:off x="6400800" y="2999232"/>
            <a:ext cx="1691640" cy="256032"/>
          </a:xfrm>
          <a:prstGeom prst="roundRect">
            <a:avLst>
              <a:gd name="adj" fmla="val 17857"/>
            </a:avLst>
          </a:prstGeom>
          <a:solidFill>
            <a:srgbClr val="1B4D47"/>
          </a:solidFill>
          <a:ln/>
        </p:spPr>
      </p:sp>
      <p:sp>
        <p:nvSpPr>
          <p:cNvPr id="65" name="Text 63"/>
          <p:cNvSpPr/>
          <p:nvPr/>
        </p:nvSpPr>
        <p:spPr>
          <a:xfrm>
            <a:off x="6400800" y="2999232"/>
            <a:ext cx="1691640" cy="25603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Rocio Castañeda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8193024" y="3035808"/>
            <a:ext cx="27432" cy="182880"/>
          </a:xfrm>
          <a:prstGeom prst="rect">
            <a:avLst/>
          </a:prstGeom>
          <a:solidFill>
            <a:srgbClr val="009688"/>
          </a:solidFill>
          <a:ln/>
        </p:spPr>
      </p:sp>
      <p:sp>
        <p:nvSpPr>
          <p:cNvPr id="67" name="Text 65"/>
          <p:cNvSpPr/>
          <p:nvPr/>
        </p:nvSpPr>
        <p:spPr>
          <a:xfrm>
            <a:off x="10725912" y="29992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8" name="Text 66"/>
          <p:cNvSpPr/>
          <p:nvPr/>
        </p:nvSpPr>
        <p:spPr>
          <a:xfrm>
            <a:off x="11164824" y="299923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150" dirty="0"/>
          </a:p>
        </p:txBody>
      </p:sp>
      <p:sp>
        <p:nvSpPr>
          <p:cNvPr id="69" name="Shape 67"/>
          <p:cNvSpPr/>
          <p:nvPr/>
        </p:nvSpPr>
        <p:spPr>
          <a:xfrm>
            <a:off x="6400800" y="3282696"/>
            <a:ext cx="1691640" cy="256032"/>
          </a:xfrm>
          <a:prstGeom prst="roundRect">
            <a:avLst>
              <a:gd name="adj" fmla="val 17857"/>
            </a:avLst>
          </a:prstGeom>
          <a:solidFill>
            <a:srgbClr val="1B4D47"/>
          </a:solidFill>
          <a:ln/>
        </p:spPr>
      </p:sp>
      <p:sp>
        <p:nvSpPr>
          <p:cNvPr id="70" name="Text 68"/>
          <p:cNvSpPr/>
          <p:nvPr/>
        </p:nvSpPr>
        <p:spPr>
          <a:xfrm>
            <a:off x="6400800" y="3282696"/>
            <a:ext cx="1691640" cy="25603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Evelyn Calderón</a:t>
            </a:r>
            <a:endParaRPr lang="en-US" sz="1050" dirty="0"/>
          </a:p>
        </p:txBody>
      </p:sp>
      <p:sp>
        <p:nvSpPr>
          <p:cNvPr id="71" name="Shape 69"/>
          <p:cNvSpPr/>
          <p:nvPr/>
        </p:nvSpPr>
        <p:spPr>
          <a:xfrm>
            <a:off x="8193024" y="3319272"/>
            <a:ext cx="27432" cy="182880"/>
          </a:xfrm>
          <a:prstGeom prst="rect">
            <a:avLst/>
          </a:prstGeom>
          <a:solidFill>
            <a:srgbClr val="009688"/>
          </a:solidFill>
          <a:ln/>
        </p:spPr>
      </p:sp>
      <p:sp>
        <p:nvSpPr>
          <p:cNvPr id="72" name="Text 70"/>
          <p:cNvSpPr/>
          <p:nvPr/>
        </p:nvSpPr>
        <p:spPr>
          <a:xfrm>
            <a:off x="10725912" y="328269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3" name="Text 71"/>
          <p:cNvSpPr/>
          <p:nvPr/>
        </p:nvSpPr>
        <p:spPr>
          <a:xfrm>
            <a:off x="11164824" y="328269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150" dirty="0"/>
          </a:p>
        </p:txBody>
      </p:sp>
      <p:sp>
        <p:nvSpPr>
          <p:cNvPr id="74" name="Shape 72"/>
          <p:cNvSpPr/>
          <p:nvPr/>
        </p:nvSpPr>
        <p:spPr>
          <a:xfrm>
            <a:off x="228600" y="6144768"/>
            <a:ext cx="11704320" cy="384048"/>
          </a:xfrm>
          <a:prstGeom prst="rect">
            <a:avLst/>
          </a:prstGeom>
          <a:solidFill>
            <a:srgbClr val="1B4D47"/>
          </a:solidFill>
          <a:ln/>
        </p:spPr>
      </p:sp>
      <p:sp>
        <p:nvSpPr>
          <p:cNvPr id="75" name="Text 73"/>
          <p:cNvSpPr/>
          <p:nvPr/>
        </p:nvSpPr>
        <p:spPr>
          <a:xfrm>
            <a:off x="228600" y="6144768"/>
            <a:ext cx="1170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OC ABIERTAS: 782   |   TOTAL OC VENCIDAS: 112   |   % VENCIDAS: 14.3%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09728"/>
            <a:ext cx="54864" cy="34747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347472" y="7315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ÓRDENES ABIERTAS — MATERIA PRIMA (MP)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858000" y="7315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Afal  |  Costa Norte Food Service Solutions  |  Semana 29  |  Al 18 de Julio de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0" y="6601968"/>
            <a:ext cx="1219169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Afal  |  Costa Norte Food Service Solutions  |  Semana 29  |  Al 18 de Julio de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28600" y="521208"/>
            <a:ext cx="11521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Teal = Vigentes (Fecha Necesidad ≥ 18/07/26)   ● Naranja = Vencidas (Fecha Necesidad &lt; 18/07/26)</a:t>
            </a:r>
            <a:endParaRPr lang="en-US" sz="9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228600" y="713232"/>
          <a:ext cx="7772400" cy="2788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8275320" y="731520"/>
            <a:ext cx="3657600" cy="960120"/>
          </a:xfrm>
          <a:prstGeom prst="roundRect">
            <a:avLst>
              <a:gd name="adj" fmla="val 5714"/>
            </a:avLst>
          </a:prstGeom>
          <a:solidFill>
            <a:srgbClr val="E8F5F3"/>
          </a:solidFill>
          <a:ln/>
        </p:spPr>
      </p:sp>
      <p:sp>
        <p:nvSpPr>
          <p:cNvPr id="9" name="Text 6"/>
          <p:cNvSpPr/>
          <p:nvPr/>
        </p:nvSpPr>
        <p:spPr>
          <a:xfrm>
            <a:off x="8275320" y="75895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560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8275320" y="13258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 Abiertas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275320" y="1828800"/>
            <a:ext cx="3657600" cy="868680"/>
          </a:xfrm>
          <a:prstGeom prst="roundRect">
            <a:avLst>
              <a:gd name="adj" fmla="val 6316"/>
            </a:avLst>
          </a:prstGeom>
          <a:solidFill>
            <a:srgbClr val="FDECEA"/>
          </a:solidFill>
          <a:ln/>
        </p:spPr>
      </p:sp>
      <p:sp>
        <p:nvSpPr>
          <p:cNvPr id="12" name="Text 9"/>
          <p:cNvSpPr/>
          <p:nvPr/>
        </p:nvSpPr>
        <p:spPr>
          <a:xfrm>
            <a:off x="8275320" y="1856232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8275320" y="238658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 Vencidas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275320" y="2788920"/>
            <a:ext cx="3657600" cy="621792"/>
          </a:xfrm>
          <a:prstGeom prst="roundRect">
            <a:avLst>
              <a:gd name="adj" fmla="val 8824"/>
            </a:avLst>
          </a:prstGeom>
          <a:solidFill>
            <a:srgbClr val="FFF3CD"/>
          </a:solidFill>
          <a:ln/>
        </p:spPr>
      </p:sp>
      <p:sp>
        <p:nvSpPr>
          <p:cNvPr id="15" name="Text 12"/>
          <p:cNvSpPr/>
          <p:nvPr/>
        </p:nvSpPr>
        <p:spPr>
          <a:xfrm>
            <a:off x="8275320" y="2807208"/>
            <a:ext cx="1280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A6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59%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9509760" y="2807208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5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Recibidas al 100% en Semana 29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B5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(74 de 126 OC)</a:t>
            </a:r>
            <a:endParaRPr lang="en-US" sz="8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3566160"/>
          <a:ext cx="11704320" cy="2148840"/>
        </p:xfrm>
        <a:graphic>
          <a:graphicData uri="http://schemas.openxmlformats.org/drawingml/2006/table">
            <a:tbl>
              <a:tblPr/>
              <a:tblGrid>
                <a:gridCol w="1554480"/>
                <a:gridCol w="634365"/>
                <a:gridCol w="634365"/>
                <a:gridCol w="634365"/>
                <a:gridCol w="634365"/>
                <a:gridCol w="634365"/>
                <a:gridCol w="634365"/>
                <a:gridCol w="634365"/>
                <a:gridCol w="634365"/>
                <a:gridCol w="634365"/>
                <a:gridCol w="634365"/>
                <a:gridCol w="634365"/>
                <a:gridCol w="634365"/>
                <a:gridCol w="634365"/>
                <a:gridCol w="634365"/>
                <a:gridCol w="634365"/>
                <a:gridCol w="634365"/>
              </a:tblGrid>
              <a:tr h="2686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9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VENCIDAS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2B21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gridSpan="6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VIGENTES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5B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860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Comprador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S13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S19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S22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S23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S24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S26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S27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S28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S29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S30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S31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S32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S33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S34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S35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</a:tr>
              <a:tr h="26860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Victor Galván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1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2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6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12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42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42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40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28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18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4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C3E50"/>
                          </a:solidFill>
                        </a:rPr>
                        <a:t>195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860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Mario Rosas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1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1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1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2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1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5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3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15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38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34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35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29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8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1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C3E50"/>
                          </a:solidFill>
                        </a:rPr>
                        <a:t>174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860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Oswaldo Martínez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3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30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29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26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20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16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6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C3E50"/>
                          </a:solidFill>
                        </a:rPr>
                        <a:t>130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860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Antonio de la Cruz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1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1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4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12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13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11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6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6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1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C3E50"/>
                          </a:solidFill>
                        </a:rPr>
                        <a:t>55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860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Zulma Valera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1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3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2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C3E50"/>
                          </a:solidFill>
                        </a:rPr>
                        <a:t>6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860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TOTAL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C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C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C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C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C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C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C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13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C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36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C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122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E6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118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E6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112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E6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83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E6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48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E6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12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E6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560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09728"/>
            <a:ext cx="54864" cy="34747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347472" y="7315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ÓRDENES ABIERTAS — MRO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858000" y="7315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Afal  |  Costa Norte Food Service Solutions  |  Semana 29  |  Al 18 de Julio de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0" y="6601968"/>
            <a:ext cx="1219169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Afal  |  Costa Norte Food Service Solutions  |  Semana 29  |  Al 18 de Julio de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28600" y="521208"/>
            <a:ext cx="11521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Teal = Vigentes (Fecha Necesidad ≥ 18/07/26)   ● Naranja = Vencidas (Fecha Necesidad &lt; 18/07/26)</a:t>
            </a:r>
            <a:endParaRPr lang="en-US" sz="9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228600" y="713232"/>
          <a:ext cx="7772400" cy="2788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8275320" y="731520"/>
            <a:ext cx="3657600" cy="960120"/>
          </a:xfrm>
          <a:prstGeom prst="roundRect">
            <a:avLst>
              <a:gd name="adj" fmla="val 5714"/>
            </a:avLst>
          </a:prstGeom>
          <a:solidFill>
            <a:srgbClr val="E8F5F3"/>
          </a:solidFill>
          <a:ln/>
        </p:spPr>
      </p:sp>
      <p:sp>
        <p:nvSpPr>
          <p:cNvPr id="9" name="Text 6"/>
          <p:cNvSpPr/>
          <p:nvPr/>
        </p:nvSpPr>
        <p:spPr>
          <a:xfrm>
            <a:off x="8275320" y="75895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222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8275320" y="13258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 Abiertas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275320" y="1828800"/>
            <a:ext cx="3657600" cy="868680"/>
          </a:xfrm>
          <a:prstGeom prst="roundRect">
            <a:avLst>
              <a:gd name="adj" fmla="val 6316"/>
            </a:avLst>
          </a:prstGeom>
          <a:solidFill>
            <a:srgbClr val="FDECEA"/>
          </a:solidFill>
          <a:ln/>
        </p:spPr>
      </p:sp>
      <p:sp>
        <p:nvSpPr>
          <p:cNvPr id="12" name="Text 9"/>
          <p:cNvSpPr/>
          <p:nvPr/>
        </p:nvSpPr>
        <p:spPr>
          <a:xfrm>
            <a:off x="8275320" y="1856232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8275320" y="238658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 Vencidas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275320" y="2788920"/>
            <a:ext cx="3657600" cy="621792"/>
          </a:xfrm>
          <a:prstGeom prst="roundRect">
            <a:avLst>
              <a:gd name="adj" fmla="val 8824"/>
            </a:avLst>
          </a:prstGeom>
          <a:solidFill>
            <a:srgbClr val="FFF3CD"/>
          </a:solidFill>
          <a:ln/>
        </p:spPr>
      </p:sp>
      <p:sp>
        <p:nvSpPr>
          <p:cNvPr id="15" name="Text 12"/>
          <p:cNvSpPr/>
          <p:nvPr/>
        </p:nvSpPr>
        <p:spPr>
          <a:xfrm>
            <a:off x="8275320" y="2807208"/>
            <a:ext cx="1280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A6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9509760" y="2807208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5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Recibidas al 100% en Semana 29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B5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(16 de 42 OC)</a:t>
            </a:r>
            <a:endParaRPr lang="en-US" sz="8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3566160"/>
          <a:ext cx="11704320" cy="2148840"/>
        </p:xfrm>
        <a:graphic>
          <a:graphicData uri="http://schemas.openxmlformats.org/drawingml/2006/table">
            <a:tbl>
              <a:tblPr/>
              <a:tblGrid>
                <a:gridCol w="1554480"/>
                <a:gridCol w="724989"/>
                <a:gridCol w="724989"/>
                <a:gridCol w="724989"/>
                <a:gridCol w="724989"/>
                <a:gridCol w="724989"/>
                <a:gridCol w="724989"/>
                <a:gridCol w="724989"/>
                <a:gridCol w="724989"/>
                <a:gridCol w="724989"/>
                <a:gridCol w="724989"/>
                <a:gridCol w="724989"/>
                <a:gridCol w="724989"/>
                <a:gridCol w="724989"/>
                <a:gridCol w="724989"/>
              </a:tblGrid>
              <a:tr h="3069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VENCIDAS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2B21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gridSpan="6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VIGENTES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5B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9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Comprador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S23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S24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S25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S26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S27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S28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S29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S30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S31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S32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S33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S34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S35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</a:tr>
              <a:tr h="3069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Jesús Manuel Cruz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2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4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3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12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45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28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15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17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10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24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C3E50"/>
                          </a:solidFill>
                        </a:rPr>
                        <a:t>160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9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Pablo Arroyo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1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1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1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9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6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8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13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9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7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5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C3E50"/>
                          </a:solidFill>
                        </a:rPr>
                        <a:t>60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9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Rocio Castañeda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1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C3E50"/>
                          </a:solidFill>
                        </a:rPr>
                        <a:t>1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9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Evelyn Calderón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1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C3E50"/>
                          </a:solidFill>
                        </a:rPr>
                        <a:t>1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9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TOTAL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C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C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C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C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13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C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C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20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C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59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E6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38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E6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22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E6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22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E6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E6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24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E6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222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09728"/>
            <a:ext cx="54864" cy="34747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347472" y="7315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 DE ÓRDENES VENCIDAS — MATERIA PRIMA (MP) — Por Proveedor (OC Única) (1/2)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858000" y="7315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Afal  |  Costa Norte Food Service Solutions  |  Semana 29  |  Al 18 de Julio de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0" y="6601968"/>
            <a:ext cx="1219169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Afal  |  Costa Norte Food Service Solutions  |  Semana 29  |  Al 18 de Julio de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521208"/>
            <a:ext cx="4114800" cy="292608"/>
          </a:xfrm>
          <a:prstGeom prst="rect">
            <a:avLst/>
          </a:prstGeom>
          <a:solidFill>
            <a:srgbClr val="1B4D47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52120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Proveedores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0" y="521208"/>
            <a:ext cx="9144" cy="2926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9" name="Text 7"/>
          <p:cNvSpPr/>
          <p:nvPr/>
        </p:nvSpPr>
        <p:spPr>
          <a:xfrm>
            <a:off x="2295144" y="521208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OCs Vencidas: 65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434840" y="566928"/>
            <a:ext cx="7452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Ordenado de mayor a menor  |  Fecha Necesidad &lt; 18/07/2026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868680"/>
          <a:ext cx="11704320" cy="5577840"/>
        </p:xfrm>
        <a:graphic>
          <a:graphicData uri="http://schemas.openxmlformats.org/drawingml/2006/table">
            <a:tbl>
              <a:tblPr/>
              <a:tblGrid>
                <a:gridCol w="3657600"/>
                <a:gridCol w="804672"/>
                <a:gridCol w="804672"/>
                <a:gridCol w="804672"/>
                <a:gridCol w="804672"/>
                <a:gridCol w="804672"/>
                <a:gridCol w="804672"/>
                <a:gridCol w="804672"/>
                <a:gridCol w="804672"/>
                <a:gridCol w="804672"/>
                <a:gridCol w="804672"/>
              </a:tblGrid>
              <a:tr h="2425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Proveedor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S13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S19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S22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S23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S24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S26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S27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S28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S29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</a:tr>
              <a:tr h="2425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MCLANE FOODSERVICE INC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2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5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5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C3E50"/>
                          </a:solidFill>
                        </a:rPr>
                        <a:t>13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25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SERVI QUIM DE MONTERREY SA DE CV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5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C3E50"/>
                          </a:solidFill>
                        </a:rPr>
                        <a:t>9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25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PROVEEDORES DE INGENIERIA ALIMENTARIA S.A. DE C.V.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3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2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C3E50"/>
                          </a:solidFill>
                        </a:rPr>
                        <a:t>6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25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DELICATESSEN SUPPORT SERVICES INC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2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C3E50"/>
                          </a:solidFill>
                        </a:rPr>
                        <a:t>3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25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GUGA MERCANTIL SA DE CV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2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C3E50"/>
                          </a:solidFill>
                        </a:rPr>
                        <a:t>3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25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GRUPO GUSI SPR DE RL DE CV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2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C3E50"/>
                          </a:solidFill>
                        </a:rPr>
                        <a:t>3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25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GRUPO IMPRESORA SAN ANDRES, S.A DE C.V.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3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C3E50"/>
                          </a:solidFill>
                        </a:rPr>
                        <a:t>3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25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COSTA NORTE LLC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C3E50"/>
                          </a:solidFill>
                        </a:rPr>
                        <a:t>2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25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VEGGIE LAB SAPI DE CV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C3E50"/>
                          </a:solidFill>
                        </a:rPr>
                        <a:t>2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25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COLOR EXPRESS DE MEXICO S.A DE C.V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C3E50"/>
                          </a:solidFill>
                        </a:rPr>
                        <a:t>2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25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ALBE INTERNACIONAL S.A. DE C.V.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C3E50"/>
                          </a:solidFill>
                        </a:rPr>
                        <a:t>2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25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ALIMENTARIOS Y TECNICA, S.A. DE C.V.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2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C3E50"/>
                          </a:solidFill>
                        </a:rPr>
                        <a:t>2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25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IBALMA SA DE CV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C3E50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25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VASOKING DE MEXICO S DE RL DE CV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C3E50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25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SMART &amp; FINAL DEL NOROESTE, S.A. DE C.V.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C3E50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25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COMERCIALIZACION Y SERVICIO DE NOGALES SA DE CV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C3E50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25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FOOD SERVICE DE MEXICO SA DE CV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C3E50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25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ALIMENTOS CENTRALIZADOS DE MEXICO, S. DE R.L. DE C.V.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C3E50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25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ZUCARMEX SA DE CV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C3E50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25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INDIMEX TRADING SA DE CV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C3E50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25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DART DE MEXICO S DE RL DE CV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C3E50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25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IMPRESIONES OOH DE MEXICO SA DE CV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C3E50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09728"/>
            <a:ext cx="54864" cy="34747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347472" y="7315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 DE ÓRDENES VENCIDAS — MATERIA PRIMA (MP) — Por Proveedor (OC Única) (2/2)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858000" y="7315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Afal  |  Costa Norte Food Service Solutions  |  Semana 29  |  Al 18 de Julio de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0" y="6601968"/>
            <a:ext cx="1219169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Afal  |  Costa Norte Food Service Solutions  |  Semana 29  |  Al 18 de Julio de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521208"/>
            <a:ext cx="4114800" cy="292608"/>
          </a:xfrm>
          <a:prstGeom prst="rect">
            <a:avLst/>
          </a:prstGeom>
          <a:solidFill>
            <a:srgbClr val="1B4D47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52120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Proveedores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0" y="521208"/>
            <a:ext cx="9144" cy="2926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9" name="Text 7"/>
          <p:cNvSpPr/>
          <p:nvPr/>
        </p:nvSpPr>
        <p:spPr>
          <a:xfrm>
            <a:off x="2295144" y="521208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OCs Vencidas: 65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434840" y="566928"/>
            <a:ext cx="7452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Ordenado de mayor a menor  |  Fecha Necesidad &lt; 18/07/2026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868680"/>
          <a:ext cx="11704320" cy="5577840"/>
        </p:xfrm>
        <a:graphic>
          <a:graphicData uri="http://schemas.openxmlformats.org/drawingml/2006/table">
            <a:tbl>
              <a:tblPr/>
              <a:tblGrid>
                <a:gridCol w="3657600"/>
                <a:gridCol w="804672"/>
                <a:gridCol w="804672"/>
                <a:gridCol w="804672"/>
                <a:gridCol w="804672"/>
                <a:gridCol w="804672"/>
                <a:gridCol w="804672"/>
                <a:gridCol w="804672"/>
                <a:gridCol w="804672"/>
                <a:gridCol w="804672"/>
                <a:gridCol w="804672"/>
              </a:tblGrid>
              <a:tr h="79683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Proveedor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S13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S19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S22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S23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S24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S26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S27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S28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S29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</a:tr>
              <a:tr h="79683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PROTEINA ANIMAL SA DE CV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C3E50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683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CONVENIENCIA INTERNACIONAL SA DE CV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C3E50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683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MCCAIN MEXICO SA DE CV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C3E50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683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L WESTON OPERACIONES SA DE CV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C3E50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683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ALIMENTOS PREFORMADOS SA DE CV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C3E50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683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TOTAL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13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36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65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09728"/>
            <a:ext cx="54864" cy="34747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347472" y="7315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 DE ÓRDENES VENCIDAS — MRO — Por Proveedor (OC Única)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858000" y="7315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Afal  |  Costa Norte Food Service Solutions  |  Semana 29  |  Al 18 de Julio de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0" y="6601968"/>
            <a:ext cx="1219169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Afal  |  Costa Norte Food Service Solutions  |  Semana 29  |  Al 18 de Julio de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521208"/>
            <a:ext cx="4114800" cy="292608"/>
          </a:xfrm>
          <a:prstGeom prst="rect">
            <a:avLst/>
          </a:prstGeom>
          <a:solidFill>
            <a:srgbClr val="1B4D47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52120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Proveedores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0" y="521208"/>
            <a:ext cx="9144" cy="2926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9" name="Text 7"/>
          <p:cNvSpPr/>
          <p:nvPr/>
        </p:nvSpPr>
        <p:spPr>
          <a:xfrm>
            <a:off x="2295144" y="521208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OCs Vencidas: 47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434840" y="566928"/>
            <a:ext cx="7452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Ordenado de mayor a menor  |  Fecha Necesidad &lt; 18/07/2026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868680"/>
          <a:ext cx="11704320" cy="5577840"/>
        </p:xfrm>
        <a:graphic>
          <a:graphicData uri="http://schemas.openxmlformats.org/drawingml/2006/table">
            <a:tbl>
              <a:tblPr/>
              <a:tblGrid>
                <a:gridCol w="3657600"/>
                <a:gridCol w="1005840"/>
                <a:gridCol w="1005840"/>
                <a:gridCol w="1005840"/>
                <a:gridCol w="1005840"/>
                <a:gridCol w="1005840"/>
                <a:gridCol w="1005840"/>
                <a:gridCol w="1005840"/>
                <a:gridCol w="1005840"/>
              </a:tblGrid>
              <a:tr h="2324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Proveedor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S23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S24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S25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S26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S27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S28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S29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</a:tr>
              <a:tr h="2324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DMI MANUFACTURING, INC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2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3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C3E50"/>
                          </a:solidFill>
                        </a:rPr>
                        <a:t>6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24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MICRO HERROS DE OCCIDENTE SA DE CV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3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C3E50"/>
                          </a:solidFill>
                        </a:rPr>
                        <a:t>5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24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COSTA NORTE LLC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2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C3E50"/>
                          </a:solidFill>
                        </a:rPr>
                        <a:t>4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24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GH PEGASUS S DE RL DE CV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3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C3E50"/>
                          </a:solidFill>
                        </a:rPr>
                        <a:t>4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24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GALVAN CERVANTES FRANCISCO XAVIER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2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2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C3E50"/>
                          </a:solidFill>
                        </a:rPr>
                        <a:t>4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24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JBI, LLC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C3E50"/>
                          </a:solidFill>
                        </a:rPr>
                        <a:t>3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24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ECOLAB, S. DE R.L. DE C.V.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3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C3E50"/>
                          </a:solidFill>
                        </a:rPr>
                        <a:t>3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24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MIDDLEBY WORLDWIDE SA DE CV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3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C3E50"/>
                          </a:solidFill>
                        </a:rPr>
                        <a:t>3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24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TILE EXPRESS, S.A. DE C.V.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C3E50"/>
                          </a:solidFill>
                        </a:rPr>
                        <a:t>2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24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GUTIERREZ AVELAR JAVIER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C3E50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24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ROBERT BOSCH S DE RL DE CV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C3E50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24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GRAINGER SA DE CV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C3E50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24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PROEPTA SA DE CV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C3E50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24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SANCHEZ CASTRO ANA MARIA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C3E50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24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ABASTECEDORA INDUSTRIAL DE TIJUANA, S.A. DE  C.V.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C3E50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24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MOMENTUM TEXTILES LLC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C3E50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24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INOVA CONTROL SA DE CV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C3E50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24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TECNOLOGIA Y ERGONOMIA TEKER SA DE CV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C3E50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24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GONZALEZ PAREDES ALAN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C3E50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24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IMPORTADORA DE ACCESORIOS GASTRONOMICOS SA DE CV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C3E50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24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JIMENEZ VILLEGAS HUGO EDGAR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C3E50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24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DIVERSIA S.A. DE C.V.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C3E50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C3E50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24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TOTAL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13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20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47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09728"/>
            <a:ext cx="54864" cy="34747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347472" y="7315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 MENSUAL DE PEDIDO PERFECTO — MATERIA PRIMA (MP) (hasta 17/Jul/2026)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858000" y="7315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Afal  |  Costa Norte Food Service Solutions  |  Semana 29  |  Al 18 de Julio de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0" y="6601968"/>
            <a:ext cx="1219169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Afal  |  Costa Norte Food Service Solutions  |  Semana 29  |  Al 18 de Julio de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566928"/>
            <a:ext cx="3520440" cy="987552"/>
          </a:xfrm>
          <a:prstGeom prst="roundRect">
            <a:avLst>
              <a:gd name="adj" fmla="val 5556"/>
            </a:avLst>
          </a:prstGeom>
          <a:solidFill>
            <a:srgbClr val="E8F5F3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585216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3,389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74320" y="1179576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Recibido al 100%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1362456"/>
            <a:ext cx="3520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79% del total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023360" y="566928"/>
            <a:ext cx="3520440" cy="987552"/>
          </a:xfrm>
          <a:prstGeom prst="roundRect">
            <a:avLst>
              <a:gd name="adj" fmla="val 5556"/>
            </a:avLst>
          </a:prstGeom>
          <a:solidFill>
            <a:srgbClr val="FFF3CD"/>
          </a:solidFill>
          <a:ln/>
        </p:spPr>
      </p:sp>
      <p:sp>
        <p:nvSpPr>
          <p:cNvPr id="11" name="Text 9"/>
          <p:cNvSpPr/>
          <p:nvPr/>
        </p:nvSpPr>
        <p:spPr>
          <a:xfrm>
            <a:off x="4023360" y="585216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353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023360" y="1179576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Recibido Parcial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023360" y="1362456"/>
            <a:ext cx="3520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 del total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772400" y="566928"/>
            <a:ext cx="3520440" cy="987552"/>
          </a:xfrm>
          <a:prstGeom prst="roundRect">
            <a:avLst>
              <a:gd name="adj" fmla="val 5556"/>
            </a:avLst>
          </a:prstGeom>
          <a:solidFill>
            <a:srgbClr val="FDECEA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0" y="585216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527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7772400" y="1179576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Recibido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0" y="1362456"/>
            <a:ext cx="3520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 del total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772400" y="1568196"/>
            <a:ext cx="3520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OCs PROCESADAS: 4,269</a:t>
            </a:r>
            <a:endParaRPr lang="en-US" sz="8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137160" y="1783080"/>
          <a:ext cx="7955280" cy="331012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Shape 17"/>
          <p:cNvSpPr/>
          <p:nvPr/>
        </p:nvSpPr>
        <p:spPr>
          <a:xfrm>
            <a:off x="648571" y="2310924"/>
            <a:ext cx="694944" cy="256032"/>
          </a:xfrm>
          <a:prstGeom prst="roundRect">
            <a:avLst>
              <a:gd name="adj" fmla="val 17857"/>
            </a:avLst>
          </a:prstGeom>
          <a:solidFill>
            <a:srgbClr val="1B4D47"/>
          </a:solidFill>
          <a:ln/>
        </p:spPr>
      </p:sp>
      <p:sp>
        <p:nvSpPr>
          <p:cNvPr id="21" name="Text 18"/>
          <p:cNvSpPr/>
          <p:nvPr/>
        </p:nvSpPr>
        <p:spPr>
          <a:xfrm>
            <a:off x="648571" y="2310924"/>
            <a:ext cx="69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77.7%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1726257" y="2459856"/>
            <a:ext cx="694944" cy="256032"/>
          </a:xfrm>
          <a:prstGeom prst="roundRect">
            <a:avLst>
              <a:gd name="adj" fmla="val 17857"/>
            </a:avLst>
          </a:prstGeom>
          <a:solidFill>
            <a:srgbClr val="1B4D47"/>
          </a:solidFill>
          <a:ln/>
        </p:spPr>
      </p:sp>
      <p:sp>
        <p:nvSpPr>
          <p:cNvPr id="23" name="Text 20"/>
          <p:cNvSpPr/>
          <p:nvPr/>
        </p:nvSpPr>
        <p:spPr>
          <a:xfrm>
            <a:off x="1726257" y="2459856"/>
            <a:ext cx="69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79.9%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2803942" y="2650490"/>
            <a:ext cx="694944" cy="256032"/>
          </a:xfrm>
          <a:prstGeom prst="roundRect">
            <a:avLst>
              <a:gd name="adj" fmla="val 17857"/>
            </a:avLst>
          </a:prstGeom>
          <a:solidFill>
            <a:srgbClr val="1B4D47"/>
          </a:solidFill>
          <a:ln/>
        </p:spPr>
      </p:sp>
      <p:sp>
        <p:nvSpPr>
          <p:cNvPr id="25" name="Text 22"/>
          <p:cNvSpPr/>
          <p:nvPr/>
        </p:nvSpPr>
        <p:spPr>
          <a:xfrm>
            <a:off x="2803942" y="2650490"/>
            <a:ext cx="69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83%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3881628" y="2287095"/>
            <a:ext cx="694944" cy="256032"/>
          </a:xfrm>
          <a:prstGeom prst="roundRect">
            <a:avLst>
              <a:gd name="adj" fmla="val 17857"/>
            </a:avLst>
          </a:prstGeom>
          <a:solidFill>
            <a:srgbClr val="1B4D47"/>
          </a:solidFill>
          <a:ln/>
        </p:spPr>
      </p:sp>
      <p:sp>
        <p:nvSpPr>
          <p:cNvPr id="27" name="Text 24"/>
          <p:cNvSpPr/>
          <p:nvPr/>
        </p:nvSpPr>
        <p:spPr>
          <a:xfrm>
            <a:off x="3881628" y="2287095"/>
            <a:ext cx="69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86.1%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4959314" y="2011680"/>
            <a:ext cx="694944" cy="256032"/>
          </a:xfrm>
          <a:prstGeom prst="roundRect">
            <a:avLst>
              <a:gd name="adj" fmla="val 17857"/>
            </a:avLst>
          </a:prstGeom>
          <a:solidFill>
            <a:srgbClr val="1B4D47"/>
          </a:solidFill>
          <a:ln/>
        </p:spPr>
      </p:sp>
      <p:sp>
        <p:nvSpPr>
          <p:cNvPr id="29" name="Text 26"/>
          <p:cNvSpPr/>
          <p:nvPr/>
        </p:nvSpPr>
        <p:spPr>
          <a:xfrm>
            <a:off x="4959314" y="2011680"/>
            <a:ext cx="69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78.7%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6036999" y="2674319"/>
            <a:ext cx="694944" cy="256032"/>
          </a:xfrm>
          <a:prstGeom prst="roundRect">
            <a:avLst>
              <a:gd name="adj" fmla="val 17857"/>
            </a:avLst>
          </a:prstGeom>
          <a:solidFill>
            <a:srgbClr val="1B4D47"/>
          </a:solidFill>
          <a:ln/>
        </p:spPr>
      </p:sp>
      <p:sp>
        <p:nvSpPr>
          <p:cNvPr id="31" name="Text 28"/>
          <p:cNvSpPr/>
          <p:nvPr/>
        </p:nvSpPr>
        <p:spPr>
          <a:xfrm>
            <a:off x="6036999" y="2674319"/>
            <a:ext cx="69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74.7%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7114685" y="3174731"/>
            <a:ext cx="694944" cy="256032"/>
          </a:xfrm>
          <a:prstGeom prst="roundRect">
            <a:avLst>
              <a:gd name="adj" fmla="val 17857"/>
            </a:avLst>
          </a:prstGeom>
          <a:solidFill>
            <a:srgbClr val="1B4D47"/>
          </a:solidFill>
          <a:ln/>
        </p:spPr>
      </p:sp>
      <p:sp>
        <p:nvSpPr>
          <p:cNvPr id="33" name="Text 30"/>
          <p:cNvSpPr/>
          <p:nvPr/>
        </p:nvSpPr>
        <p:spPr>
          <a:xfrm>
            <a:off x="7114685" y="3174731"/>
            <a:ext cx="69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72.7%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75320" y="1783080"/>
          <a:ext cx="3794760" cy="3108960"/>
        </p:xfrm>
        <a:graphic>
          <a:graphicData uri="http://schemas.openxmlformats.org/drawingml/2006/table">
            <a:tbl>
              <a:tblPr/>
              <a:tblGrid>
                <a:gridCol w="1005840"/>
                <a:gridCol w="685800"/>
                <a:gridCol w="640080"/>
                <a:gridCol w="640080"/>
                <a:gridCol w="502920"/>
                <a:gridCol w="548640"/>
              </a:tblGrid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Rec.100%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Parcial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No Rec.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% PP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</a:rPr>
                        <a:t>Enero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</a:rPr>
                        <a:t>518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</a:rPr>
                        <a:t>57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</a:rPr>
                        <a:t>92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C3E50"/>
                          </a:solidFill>
                        </a:rPr>
                        <a:t>667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9688"/>
                          </a:solidFill>
                        </a:rPr>
                        <a:t>77.7%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</a:rPr>
                        <a:t>Febrero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</a:rPr>
                        <a:t>493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</a:rPr>
                        <a:t>49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</a:rPr>
                        <a:t>75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C3E50"/>
                          </a:solidFill>
                        </a:rPr>
                        <a:t>617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9688"/>
                          </a:solidFill>
                        </a:rPr>
                        <a:t>79.9%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</a:rPr>
                        <a:t>Marzo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</a:rPr>
                        <a:t>459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</a:rPr>
                        <a:t>30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</a:rPr>
                        <a:t>64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C3E50"/>
                          </a:solidFill>
                        </a:rPr>
                        <a:t>553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9688"/>
                          </a:solidFill>
                        </a:rPr>
                        <a:t>83%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</a:rPr>
                        <a:t>Abril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</a:rPr>
                        <a:t>581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</a:rPr>
                        <a:t>45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</a:rPr>
                        <a:t>49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C3E50"/>
                          </a:solidFill>
                        </a:rPr>
                        <a:t>675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9688"/>
                          </a:solidFill>
                        </a:rPr>
                        <a:t>86.1%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</a:rPr>
                        <a:t>Mayo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</a:rPr>
                        <a:t>657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</a:rPr>
                        <a:t>88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</a:rPr>
                        <a:t>90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C3E50"/>
                          </a:solidFill>
                        </a:rPr>
                        <a:t>835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9688"/>
                          </a:solidFill>
                        </a:rPr>
                        <a:t>78.7%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</a:rPr>
                        <a:t>Junio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</a:rPr>
                        <a:t>407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</a:rPr>
                        <a:t>62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</a:rPr>
                        <a:t>76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C3E50"/>
                          </a:solidFill>
                        </a:rPr>
                        <a:t>545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9688"/>
                          </a:solidFill>
                        </a:rPr>
                        <a:t>74.7%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</a:rPr>
                        <a:t>Julio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</a:rPr>
                        <a:t>274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</a:rPr>
                        <a:t>22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</a:rPr>
                        <a:t>81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C3E50"/>
                          </a:solidFill>
                        </a:rPr>
                        <a:t>377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9688"/>
                          </a:solidFill>
                        </a:rPr>
                        <a:t>72.7%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5" name="Text 31"/>
          <p:cNvSpPr/>
          <p:nvPr/>
        </p:nvSpPr>
        <p:spPr>
          <a:xfrm>
            <a:off x="8275320" y="4983480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Julio incluye S29 (periodo en curso al corte 17/Jul).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09728"/>
            <a:ext cx="54864" cy="34747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347472" y="7315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 MENSUAL DE PEDIDO PERFECTO — MRO (hasta 17/Jul/2026)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858000" y="7315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Afal  |  Costa Norte Food Service Solutions  |  Semana 29  |  Al 18 de Julio de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0" y="6601968"/>
            <a:ext cx="1219169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Afal  |  Costa Norte Food Service Solutions  |  Semana 29  |  Al 18 de Julio de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566928"/>
            <a:ext cx="3520440" cy="987552"/>
          </a:xfrm>
          <a:prstGeom prst="roundRect">
            <a:avLst>
              <a:gd name="adj" fmla="val 5556"/>
            </a:avLst>
          </a:prstGeom>
          <a:solidFill>
            <a:srgbClr val="E8F5F3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585216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573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74320" y="1179576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Recibido al 100%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1362456"/>
            <a:ext cx="3520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 del total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023360" y="566928"/>
            <a:ext cx="3520440" cy="987552"/>
          </a:xfrm>
          <a:prstGeom prst="roundRect">
            <a:avLst>
              <a:gd name="adj" fmla="val 5556"/>
            </a:avLst>
          </a:prstGeom>
          <a:solidFill>
            <a:srgbClr val="FFF3CD"/>
          </a:solidFill>
          <a:ln/>
        </p:spPr>
      </p:sp>
      <p:sp>
        <p:nvSpPr>
          <p:cNvPr id="11" name="Text 9"/>
          <p:cNvSpPr/>
          <p:nvPr/>
        </p:nvSpPr>
        <p:spPr>
          <a:xfrm>
            <a:off x="4023360" y="585216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023360" y="1179576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Recibido Parcial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023360" y="1362456"/>
            <a:ext cx="3520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 del total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772400" y="566928"/>
            <a:ext cx="3520440" cy="987552"/>
          </a:xfrm>
          <a:prstGeom prst="roundRect">
            <a:avLst>
              <a:gd name="adj" fmla="val 5556"/>
            </a:avLst>
          </a:prstGeom>
          <a:solidFill>
            <a:srgbClr val="FDECEA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0" y="585216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244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7772400" y="1179576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Recibido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0" y="1362456"/>
            <a:ext cx="3520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26% del total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772400" y="1568196"/>
            <a:ext cx="3520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OCs PROCESADAS: 925</a:t>
            </a:r>
            <a:endParaRPr lang="en-US" sz="8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137160" y="1783080"/>
          <a:ext cx="7955280" cy="331012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Shape 17"/>
          <p:cNvSpPr/>
          <p:nvPr/>
        </p:nvSpPr>
        <p:spPr>
          <a:xfrm>
            <a:off x="648571" y="2948432"/>
            <a:ext cx="694944" cy="256032"/>
          </a:xfrm>
          <a:prstGeom prst="roundRect">
            <a:avLst>
              <a:gd name="adj" fmla="val 17857"/>
            </a:avLst>
          </a:prstGeom>
          <a:solidFill>
            <a:srgbClr val="1B4D47"/>
          </a:solidFill>
          <a:ln/>
        </p:spPr>
      </p:sp>
      <p:sp>
        <p:nvSpPr>
          <p:cNvPr id="21" name="Text 18"/>
          <p:cNvSpPr/>
          <p:nvPr/>
        </p:nvSpPr>
        <p:spPr>
          <a:xfrm>
            <a:off x="648571" y="2948432"/>
            <a:ext cx="69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59%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1726257" y="2314448"/>
            <a:ext cx="694944" cy="256032"/>
          </a:xfrm>
          <a:prstGeom prst="roundRect">
            <a:avLst>
              <a:gd name="adj" fmla="val 17857"/>
            </a:avLst>
          </a:prstGeom>
          <a:solidFill>
            <a:srgbClr val="1B4D47"/>
          </a:solidFill>
          <a:ln/>
        </p:spPr>
      </p:sp>
      <p:sp>
        <p:nvSpPr>
          <p:cNvPr id="23" name="Text 20"/>
          <p:cNvSpPr/>
          <p:nvPr/>
        </p:nvSpPr>
        <p:spPr>
          <a:xfrm>
            <a:off x="1726257" y="2314448"/>
            <a:ext cx="69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62.3%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2803942" y="2011680"/>
            <a:ext cx="694944" cy="256032"/>
          </a:xfrm>
          <a:prstGeom prst="roundRect">
            <a:avLst>
              <a:gd name="adj" fmla="val 17857"/>
            </a:avLst>
          </a:prstGeom>
          <a:solidFill>
            <a:srgbClr val="1B4D47"/>
          </a:solidFill>
          <a:ln/>
        </p:spPr>
      </p:sp>
      <p:sp>
        <p:nvSpPr>
          <p:cNvPr id="25" name="Text 22"/>
          <p:cNvSpPr/>
          <p:nvPr/>
        </p:nvSpPr>
        <p:spPr>
          <a:xfrm>
            <a:off x="2803942" y="2011680"/>
            <a:ext cx="69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71%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3881628" y="2135632"/>
            <a:ext cx="694944" cy="256032"/>
          </a:xfrm>
          <a:prstGeom prst="roundRect">
            <a:avLst>
              <a:gd name="adj" fmla="val 17857"/>
            </a:avLst>
          </a:prstGeom>
          <a:solidFill>
            <a:srgbClr val="1B4D47"/>
          </a:solidFill>
          <a:ln/>
        </p:spPr>
      </p:sp>
      <p:sp>
        <p:nvSpPr>
          <p:cNvPr id="27" name="Text 24"/>
          <p:cNvSpPr/>
          <p:nvPr/>
        </p:nvSpPr>
        <p:spPr>
          <a:xfrm>
            <a:off x="3881628" y="2135632"/>
            <a:ext cx="69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70.7%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4959314" y="2011680"/>
            <a:ext cx="694944" cy="256032"/>
          </a:xfrm>
          <a:prstGeom prst="roundRect">
            <a:avLst>
              <a:gd name="adj" fmla="val 17857"/>
            </a:avLst>
          </a:prstGeom>
          <a:solidFill>
            <a:srgbClr val="1B4D47"/>
          </a:solidFill>
          <a:ln/>
        </p:spPr>
      </p:sp>
      <p:sp>
        <p:nvSpPr>
          <p:cNvPr id="29" name="Text 26"/>
          <p:cNvSpPr/>
          <p:nvPr/>
        </p:nvSpPr>
        <p:spPr>
          <a:xfrm>
            <a:off x="4959314" y="2011680"/>
            <a:ext cx="69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62.1%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6036999" y="2054352"/>
            <a:ext cx="694944" cy="256032"/>
          </a:xfrm>
          <a:prstGeom prst="roundRect">
            <a:avLst>
              <a:gd name="adj" fmla="val 17857"/>
            </a:avLst>
          </a:prstGeom>
          <a:solidFill>
            <a:srgbClr val="1B4D47"/>
          </a:solidFill>
          <a:ln/>
        </p:spPr>
      </p:sp>
      <p:sp>
        <p:nvSpPr>
          <p:cNvPr id="31" name="Text 28"/>
          <p:cNvSpPr/>
          <p:nvPr/>
        </p:nvSpPr>
        <p:spPr>
          <a:xfrm>
            <a:off x="6036999" y="2054352"/>
            <a:ext cx="69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60.9%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7114685" y="2011680"/>
            <a:ext cx="694944" cy="256032"/>
          </a:xfrm>
          <a:prstGeom prst="roundRect">
            <a:avLst>
              <a:gd name="adj" fmla="val 17857"/>
            </a:avLst>
          </a:prstGeom>
          <a:solidFill>
            <a:srgbClr val="1B4D47"/>
          </a:solidFill>
          <a:ln/>
        </p:spPr>
      </p:sp>
      <p:sp>
        <p:nvSpPr>
          <p:cNvPr id="33" name="Text 30"/>
          <p:cNvSpPr/>
          <p:nvPr/>
        </p:nvSpPr>
        <p:spPr>
          <a:xfrm>
            <a:off x="7114685" y="2011680"/>
            <a:ext cx="69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47.7%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75320" y="1783080"/>
          <a:ext cx="3794760" cy="3108960"/>
        </p:xfrm>
        <a:graphic>
          <a:graphicData uri="http://schemas.openxmlformats.org/drawingml/2006/table">
            <a:tbl>
              <a:tblPr/>
              <a:tblGrid>
                <a:gridCol w="1005840"/>
                <a:gridCol w="685800"/>
                <a:gridCol w="640080"/>
                <a:gridCol w="640080"/>
                <a:gridCol w="502920"/>
                <a:gridCol w="548640"/>
              </a:tblGrid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Rec.100%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Parcial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No Rec.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% PP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</a:rPr>
                        <a:t>Enero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</a:rPr>
                        <a:t>49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</a:rPr>
                        <a:t>17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</a:rPr>
                        <a:t>17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C3E50"/>
                          </a:solidFill>
                        </a:rPr>
                        <a:t>83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9688"/>
                          </a:solidFill>
                        </a:rPr>
                        <a:t>59%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</a:rPr>
                        <a:t>Febrero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</a:rPr>
                        <a:t>76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</a:rPr>
                        <a:t>20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</a:rPr>
                        <a:t>26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C3E50"/>
                          </a:solidFill>
                        </a:rPr>
                        <a:t>122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9688"/>
                          </a:solidFill>
                        </a:rPr>
                        <a:t>62.3%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</a:rPr>
                        <a:t>Marzo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</a:rPr>
                        <a:t>103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</a:rPr>
                        <a:t>11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</a:rPr>
                        <a:t>31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C3E50"/>
                          </a:solidFill>
                        </a:rPr>
                        <a:t>145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9688"/>
                          </a:solidFill>
                        </a:rPr>
                        <a:t>71%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</a:rPr>
                        <a:t>Abril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</a:rPr>
                        <a:t>94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</a:rPr>
                        <a:t>13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</a:rPr>
                        <a:t>26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C3E50"/>
                          </a:solidFill>
                        </a:rPr>
                        <a:t>133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9688"/>
                          </a:solidFill>
                        </a:rPr>
                        <a:t>70.7%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</a:rPr>
                        <a:t>Mayo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</a:rPr>
                        <a:t>95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</a:rPr>
                        <a:t>15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</a:rPr>
                        <a:t>43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C3E50"/>
                          </a:solidFill>
                        </a:rPr>
                        <a:t>153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9688"/>
                          </a:solidFill>
                        </a:rPr>
                        <a:t>62.1%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</a:rPr>
                        <a:t>Junio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</a:rPr>
                        <a:t>84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</a:rPr>
                        <a:t>14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</a:rPr>
                        <a:t>40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C3E50"/>
                          </a:solidFill>
                        </a:rPr>
                        <a:t>138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9688"/>
                          </a:solidFill>
                        </a:rPr>
                        <a:t>60.9%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</a:rPr>
                        <a:t>Julio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</a:rPr>
                        <a:t>72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</a:rPr>
                        <a:t>18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C3E50"/>
                          </a:solidFill>
                        </a:rPr>
                        <a:t>61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C3E50"/>
                          </a:solidFill>
                        </a:rPr>
                        <a:t>151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9688"/>
                          </a:solidFill>
                        </a:rPr>
                        <a:t>47.7%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5" name="Text 31"/>
          <p:cNvSpPr/>
          <p:nvPr/>
        </p:nvSpPr>
        <p:spPr>
          <a:xfrm>
            <a:off x="8275320" y="4983480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Julio incluye S29 (periodo en curso al corte 17/Jul).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09728"/>
            <a:ext cx="54864" cy="34747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347472" y="7315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VENCIDAS — MATERIA PRIMA (MP) | 13–19 Jul 2026 (1/3)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858000" y="7315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Afal  |  Costa Norte Food Service Solutions  |  Semana 28–29  |  Seguimiento 13–19 Jul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0" y="6601968"/>
            <a:ext cx="1219169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Afal  |  Costa Norte Food Service Solutions  |  Semana 28–29  |  Seguimiento 13–19 Jul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56032" y="502920"/>
            <a:ext cx="11430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las 60 OCs vencidas al corte del 12 de Julio (S28), ¿cuántas se resolvieron entre el 13 y el 19 de Julio? (comparación exacta contra el extracto Ordenes_al_12_de_julio.xlsx)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46888" y="713232"/>
            <a:ext cx="1828800" cy="960120"/>
          </a:xfrm>
          <a:prstGeom prst="roundRect">
            <a:avLst>
              <a:gd name="adj" fmla="val 4762"/>
            </a:avLst>
          </a:prstGeom>
          <a:solidFill>
            <a:srgbClr val="FDECEA"/>
          </a:solidFill>
          <a:ln/>
        </p:spPr>
      </p:sp>
      <p:sp>
        <p:nvSpPr>
          <p:cNvPr id="8" name="Text 6"/>
          <p:cNvSpPr/>
          <p:nvPr/>
        </p:nvSpPr>
        <p:spPr>
          <a:xfrm>
            <a:off x="246888" y="740664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46888" y="127101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OCs Vencidas al 12-Jul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46888" y="1463040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seguimiento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212848" y="713232"/>
            <a:ext cx="1828800" cy="960120"/>
          </a:xfrm>
          <a:prstGeom prst="roundRect">
            <a:avLst>
              <a:gd name="adj" fmla="val 4762"/>
            </a:avLst>
          </a:prstGeom>
          <a:solidFill>
            <a:srgbClr val="E8F5F3"/>
          </a:solidFill>
          <a:ln/>
        </p:spPr>
      </p:sp>
      <p:sp>
        <p:nvSpPr>
          <p:cNvPr id="12" name="Text 10"/>
          <p:cNvSpPr/>
          <p:nvPr/>
        </p:nvSpPr>
        <p:spPr>
          <a:xfrm>
            <a:off x="2212848" y="740664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212848" y="127101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Resueltas (13–19 Jul)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212848" y="1463040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del total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178808" y="713232"/>
            <a:ext cx="1828800" cy="960120"/>
          </a:xfrm>
          <a:prstGeom prst="roundRect">
            <a:avLst>
              <a:gd name="adj" fmla="val 4762"/>
            </a:avLst>
          </a:prstGeom>
          <a:solidFill>
            <a:srgbClr val="E8F5F3"/>
          </a:solidFill>
          <a:ln/>
        </p:spPr>
      </p:sp>
      <p:sp>
        <p:nvSpPr>
          <p:cNvPr id="16" name="Text 14"/>
          <p:cNvSpPr/>
          <p:nvPr/>
        </p:nvSpPr>
        <p:spPr>
          <a:xfrm>
            <a:off x="4178808" y="740664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178808" y="127101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Recibidas al 100%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178808" y="1463040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Completamente cerradas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6144768" y="713232"/>
            <a:ext cx="1828800" cy="960120"/>
          </a:xfrm>
          <a:prstGeom prst="roundRect">
            <a:avLst>
              <a:gd name="adj" fmla="val 4762"/>
            </a:avLst>
          </a:prstGeom>
          <a:solidFill>
            <a:srgbClr val="FFF3CD"/>
          </a:solidFill>
          <a:ln/>
        </p:spPr>
      </p:sp>
      <p:sp>
        <p:nvSpPr>
          <p:cNvPr id="20" name="Text 18"/>
          <p:cNvSpPr/>
          <p:nvPr/>
        </p:nvSpPr>
        <p:spPr>
          <a:xfrm>
            <a:off x="6144768" y="740664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144768" y="127101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Recibidas Parciales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144768" y="1463040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Recepción incompleta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8110728" y="713232"/>
            <a:ext cx="1828800" cy="960120"/>
          </a:xfrm>
          <a:prstGeom prst="roundRect">
            <a:avLst>
              <a:gd name="adj" fmla="val 4762"/>
            </a:avLst>
          </a:prstGeom>
          <a:solidFill>
            <a:srgbClr val="F0F0F0"/>
          </a:solidFill>
          <a:ln/>
        </p:spPr>
      </p:sp>
      <p:sp>
        <p:nvSpPr>
          <p:cNvPr id="24" name="Text 22"/>
          <p:cNvSpPr/>
          <p:nvPr/>
        </p:nvSpPr>
        <p:spPr>
          <a:xfrm>
            <a:off x="8110728" y="740664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8110728" y="127101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Cerradas/Canceladas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110728" y="1463040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recepción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10076688" y="713232"/>
            <a:ext cx="1828800" cy="960120"/>
          </a:xfrm>
          <a:prstGeom prst="roundRect">
            <a:avLst>
              <a:gd name="adj" fmla="val 4762"/>
            </a:avLst>
          </a:prstGeom>
          <a:solidFill>
            <a:srgbClr val="FDECEA"/>
          </a:solidFill>
          <a:ln/>
        </p:spPr>
      </p:sp>
      <p:sp>
        <p:nvSpPr>
          <p:cNvPr id="28" name="Text 26"/>
          <p:cNvSpPr/>
          <p:nvPr/>
        </p:nvSpPr>
        <p:spPr>
          <a:xfrm>
            <a:off x="10076688" y="740664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10076688" y="127101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Siguen Abiertas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0076688" y="1463040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Pendientes al 19-Jul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28600" y="1810512"/>
            <a:ext cx="57790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RESUELTAS ENTRE 13 Y 19 DE JULIO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153912" y="1810512"/>
            <a:ext cx="57790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SIGUEN ABIERTAS / VENCIDAS AL 19 DE JULIO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2057400"/>
          <a:ext cx="5779008" cy="4343400"/>
        </p:xfrm>
        <a:graphic>
          <a:graphicData uri="http://schemas.openxmlformats.org/drawingml/2006/table">
            <a:tbl>
              <a:tblPr/>
              <a:tblGrid>
                <a:gridCol w="594360"/>
                <a:gridCol w="2011680"/>
                <a:gridCol w="1325880"/>
                <a:gridCol w="795528"/>
                <a:gridCol w="1051560"/>
              </a:tblGrid>
              <a:tr h="3102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OC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Proveedor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Comprador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F.Necesidad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Resolución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</a:tr>
              <a:tr h="3102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202715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MCLANE FOODSERVICE INC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Mario Rosas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06-03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9688"/>
                          </a:solidFill>
                        </a:rPr>
                        <a:t>Recibida 100%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2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206813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IBALMA SA DE CV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Victor Galván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06-05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9688"/>
                          </a:solidFill>
                        </a:rPr>
                        <a:t>Recibida 100%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2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206570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MCLANE FOODSERVICE INC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Mario Rosas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06-05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9688"/>
                          </a:solidFill>
                        </a:rPr>
                        <a:t>Recibida 100%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2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206824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IBALMA SA DE CV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Victor Galván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06-19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9688"/>
                          </a:solidFill>
                        </a:rPr>
                        <a:t>Recibida 100%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2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206500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FRUTOS GONZALEZ GUADALUPE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Victor Galván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06-26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9688"/>
                          </a:solidFill>
                        </a:rPr>
                        <a:t>Recibida 100%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2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205391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FRUTOS GONZALEZ GUADALUPE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Victor Galván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06-26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9688"/>
                          </a:solidFill>
                        </a:rPr>
                        <a:t>Recibida 100%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2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204000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IMPRESIONES CUATRO S DE RL 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Oswaldo Martínez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06-26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9688"/>
                          </a:solidFill>
                        </a:rPr>
                        <a:t>Cerrada/Cancelada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2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209096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BACHOCO SA DE CV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Antonio de la Cruz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07-03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9688"/>
                          </a:solidFill>
                        </a:rPr>
                        <a:t>Recibida 100%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2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209095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BACHOCO SA DE CV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Antonio de la Cruz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07-03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9688"/>
                          </a:solidFill>
                        </a:rPr>
                        <a:t>Recibida 100%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2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208700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OB TIJUANA SA DE CV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Antonio de la Cruz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07-03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9688"/>
                          </a:solidFill>
                        </a:rPr>
                        <a:t>Recibida 100%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2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208445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SMART &amp; FINAL DEL NOROESTE, 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Victor Galván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07-03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9688"/>
                          </a:solidFill>
                        </a:rPr>
                        <a:t>Recibida 100%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2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208303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BACHOCO SA DE CV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Antonio de la Cruz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07-03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9688"/>
                          </a:solidFill>
                        </a:rPr>
                        <a:t>Recibida parcial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2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208273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GRUPO GUSI SPR DE RL DE CV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Antonio de la Cruz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07-03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9688"/>
                          </a:solidFill>
                        </a:rPr>
                        <a:t>Recibida 100%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53912" y="2057400"/>
          <a:ext cx="5779008" cy="4343400"/>
        </p:xfrm>
        <a:graphic>
          <a:graphicData uri="http://schemas.openxmlformats.org/drawingml/2006/table">
            <a:tbl>
              <a:tblPr/>
              <a:tblGrid>
                <a:gridCol w="594360"/>
                <a:gridCol w="2194560"/>
                <a:gridCol w="1417320"/>
                <a:gridCol w="795528"/>
                <a:gridCol w="777240"/>
              </a:tblGrid>
              <a:tr h="3102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OC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Proveedor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Comprador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F.Necesidad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Días vencida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</a:tr>
              <a:tr h="3102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206581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MCLANE FOODSERVICE INC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Mario Rosas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06-05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C0392B"/>
                          </a:solidFill>
                        </a:rPr>
                        <a:t>44d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2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206569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MCLANE FOODSERVICE INC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Mario Rosas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06-05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C0392B"/>
                          </a:solidFill>
                        </a:rPr>
                        <a:t>44d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2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206522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IBALMA SA DE CV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Victor Galván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06-12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C0392B"/>
                          </a:solidFill>
                        </a:rPr>
                        <a:t>37d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2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208754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VASOKING DE MEXICO S DE RL 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Victor Galván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07-03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C0392B"/>
                          </a:solidFill>
                        </a:rPr>
                        <a:t>16d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2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208175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MCLANE FOODSERVICE INC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Mario Rosas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07-03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C0392B"/>
                          </a:solidFill>
                        </a:rPr>
                        <a:t>16d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2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208174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MCLANE FOODSERVICE INC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Mario Rosas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07-03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C0392B"/>
                          </a:solidFill>
                        </a:rPr>
                        <a:t>16d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2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208173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MCLANE FOODSERVICE INC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Mario Rosas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07-03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C0392B"/>
                          </a:solidFill>
                        </a:rPr>
                        <a:t>16d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2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208172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MCLANE FOODSERVICE INC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Mario Rosas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07-03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C0392B"/>
                          </a:solidFill>
                        </a:rPr>
                        <a:t>16d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2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208171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MCLANE FOODSERVICE INC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Mario Rosas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07-03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C0392B"/>
                          </a:solidFill>
                        </a:rPr>
                        <a:t>16d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2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207738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VEGGIE LAB SAPI DE CV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Antonio de la Cruz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07-03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C0392B"/>
                          </a:solidFill>
                        </a:rPr>
                        <a:t>16d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2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207718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PROVEEDORES DE INGENIERIA AL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Zulma Valera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07-03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C0392B"/>
                          </a:solidFill>
                        </a:rPr>
                        <a:t>16d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2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206828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SMART &amp; FINAL DEL NOROESTE, 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Victor Galván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07-03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C0392B"/>
                          </a:solidFill>
                        </a:rPr>
                        <a:t>16d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2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209487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DELICATESSEN SUPPORT SERVICE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Mario Rosas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07-10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C0392B"/>
                          </a:solidFill>
                        </a:rPr>
                        <a:t>9d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09728"/>
            <a:ext cx="54864" cy="34747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347472" y="7315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VENCIDAS — MATERIA PRIMA (MP) | 13–19 Jul 2026 (2/3)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858000" y="7315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Afal  |  Costa Norte Food Service Solutions  |  Semana 28–29  |  Seguimiento 13–19 Jul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0" y="6601968"/>
            <a:ext cx="1219169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Afal  |  Costa Norte Food Service Solutions  |  Semana 28–29  |  Seguimiento 13–19 Jul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28600" y="685800"/>
            <a:ext cx="57790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RESUELTAS ENTRE 13 Y 19 DE JULIO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153912" y="685800"/>
            <a:ext cx="57790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SIGUEN ABIERTAS / VENCIDAS AL 19 DE JULIO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941832"/>
          <a:ext cx="5779008" cy="5440680"/>
        </p:xfrm>
        <a:graphic>
          <a:graphicData uri="http://schemas.openxmlformats.org/drawingml/2006/table">
            <a:tbl>
              <a:tblPr/>
              <a:tblGrid>
                <a:gridCol w="594360"/>
                <a:gridCol w="2011680"/>
                <a:gridCol w="1325880"/>
                <a:gridCol w="795528"/>
                <a:gridCol w="1051560"/>
              </a:tblGrid>
              <a:tr h="3022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OC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Proveedor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Comprador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F.Necesidad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Resolución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</a:tr>
              <a:tr h="3022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208253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BACHOCO COMERCIAL, S.A. DE C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Antonio de la Cruz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07-03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9688"/>
                          </a:solidFill>
                        </a:rPr>
                        <a:t>Recibida 100%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22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207938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OREGON ICE CREAM CO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Mario Rosas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07-06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9688"/>
                          </a:solidFill>
                        </a:rPr>
                        <a:t>Recibida 100%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22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207933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OREGON ICE CREAM CO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Mario Rosas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07-06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9688"/>
                          </a:solidFill>
                        </a:rPr>
                        <a:t>Recibida 100%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22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207137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MCLANE FOODSERVICE INC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Mario Rosas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07-08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9688"/>
                          </a:solidFill>
                        </a:rPr>
                        <a:t>Recibida 100%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22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209788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ZUCARMEX SA DE CV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Oswaldo Martínez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07-10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9688"/>
                          </a:solidFill>
                        </a:rPr>
                        <a:t>Recibida 100%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22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209688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GUGA MERCANTIL SA DE CV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Victor Galván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07-10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9688"/>
                          </a:solidFill>
                        </a:rPr>
                        <a:t>Cerrada/Cancelada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22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209396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F-DIAZ DE MEXICO SA DE CV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Oswaldo Martínez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07-10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9688"/>
                          </a:solidFill>
                        </a:rPr>
                        <a:t>Recibida 100%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22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208775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PROVEEDORES DE INGENIERIA AL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Antonio de la Cruz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07-10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9688"/>
                          </a:solidFill>
                        </a:rPr>
                        <a:t>Recibida 100%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22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208755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VASOKING DE MEXICO S DE RL 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Victor Galván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07-10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9688"/>
                          </a:solidFill>
                        </a:rPr>
                        <a:t>Recibida 100%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22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208706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PHOENIX PACKAGING MEXICO SA 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Victor Galván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07-10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9688"/>
                          </a:solidFill>
                        </a:rPr>
                        <a:t>Cerrada/Cancelada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22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208688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AVA ALMACEN DE VALORES ALIME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Victor Galván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07-10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9688"/>
                          </a:solidFill>
                        </a:rPr>
                        <a:t>Recibida 100%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22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208399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PHOENIX PACKAGING MEXICO SA 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Victor Galván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07-10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9688"/>
                          </a:solidFill>
                        </a:rPr>
                        <a:t>Cerrada/Cancelada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22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208395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ALIMENTARIOS Y TECNICA, S.A.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Victor Galván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07-10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9688"/>
                          </a:solidFill>
                        </a:rPr>
                        <a:t>Recibida 100%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22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208293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BACHOCO SA DE CV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Antonio de la Cruz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07-10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9688"/>
                          </a:solidFill>
                        </a:rPr>
                        <a:t>Recibida 100%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22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208290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PANOVO ALIMENTARIA S DE RL 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Victor Galván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07-10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9688"/>
                          </a:solidFill>
                        </a:rPr>
                        <a:t>Recibida parcial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22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208288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BACHOCO COMERCIAL, S.A. DE C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Antonio de la Cruz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07-10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9688"/>
                          </a:solidFill>
                        </a:rPr>
                        <a:t>Recibida 100%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22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208259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BACHOCO SA DE CV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Antonio de la Cruz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07-10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9688"/>
                          </a:solidFill>
                        </a:rPr>
                        <a:t>Recibida 100%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53912" y="941832"/>
          <a:ext cx="5779008" cy="5440680"/>
        </p:xfrm>
        <a:graphic>
          <a:graphicData uri="http://schemas.openxmlformats.org/drawingml/2006/table">
            <a:tbl>
              <a:tblPr/>
              <a:tblGrid>
                <a:gridCol w="594360"/>
                <a:gridCol w="2194560"/>
                <a:gridCol w="1417320"/>
                <a:gridCol w="795528"/>
                <a:gridCol w="777240"/>
              </a:tblGrid>
              <a:tr h="4533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OC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Proveedor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Comprador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F.Necesidad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Días vencida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</a:tr>
              <a:tr h="4533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208860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COLOR EXPRESS DE MEXICO S.A 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Victor Galván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07-10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C0392B"/>
                          </a:solidFill>
                        </a:rPr>
                        <a:t>9d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33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208762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ALBE INTERNACIONAL S.A. DE C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Victor Galván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07-10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C0392B"/>
                          </a:solidFill>
                        </a:rPr>
                        <a:t>9d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33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208752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COMERCIALIZACION Y SERVICIO 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Victor Galván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07-10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C0392B"/>
                          </a:solidFill>
                        </a:rPr>
                        <a:t>9d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33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208717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GUGA MERCANTIL SA DE CV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Victor Galván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07-10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C0392B"/>
                          </a:solidFill>
                        </a:rPr>
                        <a:t>9d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33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208703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FOOD SERVICE DE MEXICO SA DE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Victor Galván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07-10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C0392B"/>
                          </a:solidFill>
                        </a:rPr>
                        <a:t>9d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33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208350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GUGA MERCANTIL SA DE CV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Victor Galván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07-10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C0392B"/>
                          </a:solidFill>
                        </a:rPr>
                        <a:t>9d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33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208257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GRUPO GUSI SPR DE RL DE CV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Antonio de la Cruz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07-10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C0392B"/>
                          </a:solidFill>
                        </a:rPr>
                        <a:t>9d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33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208170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MCLANE FOODSERVICE INC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Mario Rosas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07-10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C0392B"/>
                          </a:solidFill>
                        </a:rPr>
                        <a:t>9d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33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207771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PROVEEDORES DE INGENIERIA AL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Zulma Valera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07-10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C0392B"/>
                          </a:solidFill>
                        </a:rPr>
                        <a:t>9d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33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207720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PROVEEDORES DE INGENIERIA AL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Zulma Valera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07-10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C0392B"/>
                          </a:solidFill>
                        </a:rPr>
                        <a:t>9d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33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207716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PROVEEDORES DE INGENIERIA AL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Zulma Valera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07-10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C0392B"/>
                          </a:solidFill>
                        </a:rPr>
                        <a:t>9d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09728"/>
            <a:ext cx="54864" cy="34747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347472" y="7315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VENCIDAS — MATERIA PRIMA (MP) | 13–19 Jul 2026 (3/3)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858000" y="7315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Afal  |  Costa Norte Food Service Solutions  |  Semana 28–29  |  Seguimiento 13–19 Jul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0" y="6601968"/>
            <a:ext cx="1219169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Afal  |  Costa Norte Food Service Solutions  |  Semana 28–29  |  Seguimiento 13–19 Jul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28600" y="685800"/>
            <a:ext cx="57790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RESUELTAS ENTRE 13 Y 19 DE JULIO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153912" y="685800"/>
            <a:ext cx="57790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SIGUEN ABIERTAS / VENCIDAS AL 19 DE JULIO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941832"/>
          <a:ext cx="5779008" cy="5440680"/>
        </p:xfrm>
        <a:graphic>
          <a:graphicData uri="http://schemas.openxmlformats.org/drawingml/2006/table">
            <a:tbl>
              <a:tblPr/>
              <a:tblGrid>
                <a:gridCol w="594360"/>
                <a:gridCol w="2011680"/>
                <a:gridCol w="1325880"/>
                <a:gridCol w="795528"/>
                <a:gridCol w="1051560"/>
              </a:tblGrid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OC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Proveedor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Comprador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F.Necesidad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Resolución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208254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BACHOCO COMERCIAL, S.A. DE C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Antonio de la Cruz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07-10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9688"/>
                          </a:solidFill>
                        </a:rPr>
                        <a:t>Recibida 100%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207849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MCLANE FOODSERVICE INC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Mario Rosas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07-10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9688"/>
                          </a:solidFill>
                        </a:rPr>
                        <a:t>Recibida parcial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207728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L WESTON OPERACIONES SA DE C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Oswaldo Martínez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07-10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9688"/>
                          </a:solidFill>
                        </a:rPr>
                        <a:t>Recibida 100%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207697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ALVAREZ VILLAVICENCIO UBALDO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Victor Galván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07-10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9688"/>
                          </a:solidFill>
                        </a:rPr>
                        <a:t>Recibida 100%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207290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L WESTON OPERACIONES SA DE C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Oswaldo Martínez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07-10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9688"/>
                          </a:solidFill>
                        </a:rPr>
                        <a:t>Recibida 100%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207272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MCCAIN MEXICO SA DE CV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Mario Rosas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07-10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9688"/>
                          </a:solidFill>
                        </a:rPr>
                        <a:t>Recibida 100%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09728"/>
            <a:ext cx="54864" cy="34747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347472" y="7315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VENCIDAS — MRO | 13–19 Jul 2026 (1/3)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858000" y="7315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Afal  |  Costa Norte Food Service Solutions  |  Semana 28–29  |  Seguimiento 13–19 Jul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0" y="6601968"/>
            <a:ext cx="1219169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Afal  |  Costa Norte Food Service Solutions  |  Semana 28–29  |  Seguimiento 13–19 Jul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56032" y="502920"/>
            <a:ext cx="11430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las 58 OCs vencidas al corte del 12 de Julio (S28), ¿cuántas se resolvieron entre el 13 y el 19 de Julio? (comparación exacta contra el extracto Ordenes_al_12_de_julio.xlsx)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46888" y="713232"/>
            <a:ext cx="1828800" cy="960120"/>
          </a:xfrm>
          <a:prstGeom prst="roundRect">
            <a:avLst>
              <a:gd name="adj" fmla="val 4762"/>
            </a:avLst>
          </a:prstGeom>
          <a:solidFill>
            <a:srgbClr val="FDECEA"/>
          </a:solidFill>
          <a:ln/>
        </p:spPr>
      </p:sp>
      <p:sp>
        <p:nvSpPr>
          <p:cNvPr id="8" name="Text 6"/>
          <p:cNvSpPr/>
          <p:nvPr/>
        </p:nvSpPr>
        <p:spPr>
          <a:xfrm>
            <a:off x="246888" y="740664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46888" y="127101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OCs Vencidas al 12-Jul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46888" y="1463040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seguimiento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212848" y="713232"/>
            <a:ext cx="1828800" cy="960120"/>
          </a:xfrm>
          <a:prstGeom prst="roundRect">
            <a:avLst>
              <a:gd name="adj" fmla="val 4762"/>
            </a:avLst>
          </a:prstGeom>
          <a:solidFill>
            <a:srgbClr val="E8F5F3"/>
          </a:solidFill>
          <a:ln/>
        </p:spPr>
      </p:sp>
      <p:sp>
        <p:nvSpPr>
          <p:cNvPr id="12" name="Text 10"/>
          <p:cNvSpPr/>
          <p:nvPr/>
        </p:nvSpPr>
        <p:spPr>
          <a:xfrm>
            <a:off x="2212848" y="740664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212848" y="127101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Resueltas (13–19 Jul)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212848" y="1463040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41% del total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178808" y="713232"/>
            <a:ext cx="1828800" cy="960120"/>
          </a:xfrm>
          <a:prstGeom prst="roundRect">
            <a:avLst>
              <a:gd name="adj" fmla="val 4762"/>
            </a:avLst>
          </a:prstGeom>
          <a:solidFill>
            <a:srgbClr val="E8F5F3"/>
          </a:solidFill>
          <a:ln/>
        </p:spPr>
      </p:sp>
      <p:sp>
        <p:nvSpPr>
          <p:cNvPr id="16" name="Text 14"/>
          <p:cNvSpPr/>
          <p:nvPr/>
        </p:nvSpPr>
        <p:spPr>
          <a:xfrm>
            <a:off x="4178808" y="740664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178808" y="127101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Recibidas al 100%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178808" y="1463040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Completamente cerradas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6144768" y="713232"/>
            <a:ext cx="1828800" cy="960120"/>
          </a:xfrm>
          <a:prstGeom prst="roundRect">
            <a:avLst>
              <a:gd name="adj" fmla="val 4762"/>
            </a:avLst>
          </a:prstGeom>
          <a:solidFill>
            <a:srgbClr val="FFF3CD"/>
          </a:solidFill>
          <a:ln/>
        </p:spPr>
      </p:sp>
      <p:sp>
        <p:nvSpPr>
          <p:cNvPr id="20" name="Text 18"/>
          <p:cNvSpPr/>
          <p:nvPr/>
        </p:nvSpPr>
        <p:spPr>
          <a:xfrm>
            <a:off x="6144768" y="740664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144768" y="127101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Recibidas Parciales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144768" y="1463040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Recepción incompleta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8110728" y="713232"/>
            <a:ext cx="1828800" cy="960120"/>
          </a:xfrm>
          <a:prstGeom prst="roundRect">
            <a:avLst>
              <a:gd name="adj" fmla="val 4762"/>
            </a:avLst>
          </a:prstGeom>
          <a:solidFill>
            <a:srgbClr val="F0F0F0"/>
          </a:solidFill>
          <a:ln/>
        </p:spPr>
      </p:sp>
      <p:sp>
        <p:nvSpPr>
          <p:cNvPr id="24" name="Text 22"/>
          <p:cNvSpPr/>
          <p:nvPr/>
        </p:nvSpPr>
        <p:spPr>
          <a:xfrm>
            <a:off x="8110728" y="740664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8110728" y="127101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Cerradas/Canceladas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110728" y="1463040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recepción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10076688" y="713232"/>
            <a:ext cx="1828800" cy="960120"/>
          </a:xfrm>
          <a:prstGeom prst="roundRect">
            <a:avLst>
              <a:gd name="adj" fmla="val 4762"/>
            </a:avLst>
          </a:prstGeom>
          <a:solidFill>
            <a:srgbClr val="FDECEA"/>
          </a:solidFill>
          <a:ln/>
        </p:spPr>
      </p:sp>
      <p:sp>
        <p:nvSpPr>
          <p:cNvPr id="28" name="Text 26"/>
          <p:cNvSpPr/>
          <p:nvPr/>
        </p:nvSpPr>
        <p:spPr>
          <a:xfrm>
            <a:off x="10076688" y="740664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10076688" y="127101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Siguen Abiertas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0076688" y="1463040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Pendientes al 19-Jul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28600" y="1810512"/>
            <a:ext cx="57790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RESUELTAS ENTRE 13 Y 19 DE JULIO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153912" y="1810512"/>
            <a:ext cx="57790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SIGUEN ABIERTAS / VENCIDAS AL 19 DE JULIO</a:t>
            </a:r>
            <a:endParaRPr lang="en-US" sz="1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2057400"/>
          <a:ext cx="5779008" cy="4343400"/>
        </p:xfrm>
        <a:graphic>
          <a:graphicData uri="http://schemas.openxmlformats.org/drawingml/2006/table">
            <a:tbl>
              <a:tblPr/>
              <a:tblGrid>
                <a:gridCol w="594360"/>
                <a:gridCol w="2011680"/>
                <a:gridCol w="1325880"/>
                <a:gridCol w="795528"/>
                <a:gridCol w="1051560"/>
              </a:tblGrid>
              <a:tr h="3102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OC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Proveedor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Comprador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F.Necesidad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Resolución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</a:tr>
              <a:tr h="3102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202597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ECOLAB, S. DE R.L. DE C.V.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Jesús Manuel Cruz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04-03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9688"/>
                          </a:solidFill>
                        </a:rPr>
                        <a:t>Cerrada/Cancelada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2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204934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SERVI QUIM DE MONTERREY SA 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Mario Rosas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05-15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9688"/>
                          </a:solidFill>
                        </a:rPr>
                        <a:t>Cerrada/Cancelada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2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205369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SERVI QUIM DE MONTERREY SA 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Mario Rosas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05-22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9688"/>
                          </a:solidFill>
                        </a:rPr>
                        <a:t>Cerrada/Cancelada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2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204896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SERVI QUIM DE MONTERREY SA 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Mario Rosas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05-22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9688"/>
                          </a:solidFill>
                        </a:rPr>
                        <a:t>Cerrada/Cancelada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2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204876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SERVI QUIM DE MONTERREY SA 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Mario Rosas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05-22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9688"/>
                          </a:solidFill>
                        </a:rPr>
                        <a:t>Cerrada/Cancelada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2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203957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SERVI QUIM DE MONTERREY SA 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Mario Rosas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05-22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9688"/>
                          </a:solidFill>
                        </a:rPr>
                        <a:t>Cerrada/Cancelada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2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206447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SERVI QUIM DE MONTERREY SA 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Mario Rosas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05-29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9688"/>
                          </a:solidFill>
                        </a:rPr>
                        <a:t>Cerrada/Cancelada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2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206429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SERVI QUIM DE MONTERREY SA 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Mario Rosas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05-29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9688"/>
                          </a:solidFill>
                        </a:rPr>
                        <a:t>Cerrada/Cancelada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2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205370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SERVI QUIM DE MONTERREY SA 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Mario Rosas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06-05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9688"/>
                          </a:solidFill>
                        </a:rPr>
                        <a:t>Cerrada/Cancelada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2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206845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SERVI QUIM DE MONTERREY SA 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Mario Rosas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06-12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9688"/>
                          </a:solidFill>
                        </a:rPr>
                        <a:t>Cerrada/Cancelada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2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206839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SERVI QUIM DE MONTERREY SA 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Mario Rosas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06-12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9688"/>
                          </a:solidFill>
                        </a:rPr>
                        <a:t>Cerrada/Cancelada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2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207824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SERVI QUIM DE MONTERREY SA 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Mario Rosas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06-19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9688"/>
                          </a:solidFill>
                        </a:rPr>
                        <a:t>Cerrada/Cancelada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2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206446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SERVI QUIM DE MONTERREY SA 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Mario Rosas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06-19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9688"/>
                          </a:solidFill>
                        </a:rPr>
                        <a:t>Cerrada/Cancelada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53912" y="2057400"/>
          <a:ext cx="5779008" cy="4343400"/>
        </p:xfrm>
        <a:graphic>
          <a:graphicData uri="http://schemas.openxmlformats.org/drawingml/2006/table">
            <a:tbl>
              <a:tblPr/>
              <a:tblGrid>
                <a:gridCol w="594360"/>
                <a:gridCol w="2194560"/>
                <a:gridCol w="1417320"/>
                <a:gridCol w="795528"/>
                <a:gridCol w="777240"/>
              </a:tblGrid>
              <a:tr h="3102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OC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Proveedor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Comprador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F.Necesidad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Días vencida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</a:tr>
              <a:tr h="3102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203571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SERVI QUIM DE MONTERREY SA 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Mario Rosas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05-08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C0392B"/>
                          </a:solidFill>
                        </a:rPr>
                        <a:t>72d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2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206528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SERVI QUIM DE MONTERREY SA 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Mario Rosas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05-29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C0392B"/>
                          </a:solidFill>
                        </a:rPr>
                        <a:t>51d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2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204956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GUTIERREZ AVELAR JAVIER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Pablo Arroyo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06-05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C0392B"/>
                          </a:solidFill>
                        </a:rPr>
                        <a:t>44d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2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204023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JBI, LLC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Pablo Arroyo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06-12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C0392B"/>
                          </a:solidFill>
                        </a:rPr>
                        <a:t>37d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2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207386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ROBERT BOSCH S DE RL DE CV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Pablo Arroyo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06-19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C0392B"/>
                          </a:solidFill>
                        </a:rPr>
                        <a:t>30d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2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208789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COSTA NORTE LLC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Mario Rosas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06-26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C0392B"/>
                          </a:solidFill>
                        </a:rPr>
                        <a:t>23d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2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208612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GRAINGER SA DE CV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Jesús Manuel Cruz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06-26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C0392B"/>
                          </a:solidFill>
                        </a:rPr>
                        <a:t>23d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2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204949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COSTA NORTE LLC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Jesús Manuel Cruz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06-26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C0392B"/>
                          </a:solidFill>
                        </a:rPr>
                        <a:t>23d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2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198735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COSTA NORTE LLC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Pablo Arroyo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06-30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C0392B"/>
                          </a:solidFill>
                        </a:rPr>
                        <a:t>19d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2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189869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GH PEGASUS S DE RL DE CV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Pablo Arroyo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06-30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C0392B"/>
                          </a:solidFill>
                        </a:rPr>
                        <a:t>19d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2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208784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GH PEGASUS S DE RL DE CV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Pablo Arroyo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07-01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C0392B"/>
                          </a:solidFill>
                        </a:rPr>
                        <a:t>18d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2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208783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MICRO HERROS DE OCCIDENTE SA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Pablo Arroyo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07-01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C0392B"/>
                          </a:solidFill>
                        </a:rPr>
                        <a:t>18d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2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207631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PROEPTA SA DE CV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Jesús Manuel Cruz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07-01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C0392B"/>
                          </a:solidFill>
                        </a:rPr>
                        <a:t>18d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09728"/>
            <a:ext cx="54864" cy="34747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347472" y="7315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VENCIDAS — MRO | 13–19 Jul 2026 (2/3)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858000" y="7315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Afal  |  Costa Norte Food Service Solutions  |  Semana 28–29  |  Seguimiento 13–19 Jul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0" y="6601968"/>
            <a:ext cx="1219169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Afal  |  Costa Norte Food Service Solutions  |  Semana 28–29  |  Seguimiento 13–19 Jul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28600" y="685800"/>
            <a:ext cx="57790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RESUELTAS ENTRE 13 Y 19 DE JULIO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153912" y="685800"/>
            <a:ext cx="57790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SIGUEN ABIERTAS / VENCIDAS AL 19 DE JULIO</a:t>
            </a:r>
            <a:endParaRPr 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941832"/>
          <a:ext cx="5779008" cy="5440680"/>
        </p:xfrm>
        <a:graphic>
          <a:graphicData uri="http://schemas.openxmlformats.org/drawingml/2006/table">
            <a:tbl>
              <a:tblPr/>
              <a:tblGrid>
                <a:gridCol w="594360"/>
                <a:gridCol w="2011680"/>
                <a:gridCol w="1325880"/>
                <a:gridCol w="795528"/>
                <a:gridCol w="1051560"/>
              </a:tblGrid>
              <a:tr h="4533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OC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Proveedor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Comprador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F.Necesidad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Resolución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</a:tr>
              <a:tr h="4533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208377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SERVI QUIM DE MONTERREY SA 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Mario Rosas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06-26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9688"/>
                          </a:solidFill>
                        </a:rPr>
                        <a:t>Recibida 100%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33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208375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SERVI QUIM DE MONTERREY SA 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Mario Rosas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07-03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9688"/>
                          </a:solidFill>
                        </a:rPr>
                        <a:t>Recibida 100%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33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206452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ECOLAB, S. DE R.L. DE C.V.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Jesús Manuel Cruz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07-03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9688"/>
                          </a:solidFill>
                        </a:rPr>
                        <a:t>Cerrada/Cancelada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33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206451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ECOLAB, S. DE R.L. DE C.V.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Jesús Manuel Cruz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07-03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9688"/>
                          </a:solidFill>
                        </a:rPr>
                        <a:t>Cerrada/Cancelada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33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209479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MIDDLEBY WORLDWIDE SA DE CV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Pablo Arroyo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07-10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9688"/>
                          </a:solidFill>
                        </a:rPr>
                        <a:t>Recibida 100%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33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209171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SERVI QUIM DE MONTERREY SA 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Mario Rosas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07-10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9688"/>
                          </a:solidFill>
                        </a:rPr>
                        <a:t>Recibida 100%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33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208382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SERVI QUIM DE MONTERREY SA 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Mario Rosas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07-10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9688"/>
                          </a:solidFill>
                        </a:rPr>
                        <a:t>Recibida 100%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33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208376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SERVI QUIM DE MONTERREY SA 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Mario Rosas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07-10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9688"/>
                          </a:solidFill>
                        </a:rPr>
                        <a:t>Recibida 100%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33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208357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SERVI QUIM DE MONTERREY SA 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Mario Rosas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07-10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9688"/>
                          </a:solidFill>
                        </a:rPr>
                        <a:t>Recibida 100%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33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207384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MICRO HERROS DE OCCIDENTE SA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Pablo Arroyo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07-10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9688"/>
                          </a:solidFill>
                        </a:rPr>
                        <a:t>Recibida parcial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33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206843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SERVI QUIM DE MONTERREY SA 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Mario Rosas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07-10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9688"/>
                          </a:solidFill>
                        </a:rPr>
                        <a:t>Cerrada/Cancelada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53912" y="941832"/>
          <a:ext cx="5779008" cy="5440680"/>
        </p:xfrm>
        <a:graphic>
          <a:graphicData uri="http://schemas.openxmlformats.org/drawingml/2006/table">
            <a:tbl>
              <a:tblPr/>
              <a:tblGrid>
                <a:gridCol w="594360"/>
                <a:gridCol w="2194560"/>
                <a:gridCol w="1417320"/>
                <a:gridCol w="795528"/>
                <a:gridCol w="777240"/>
              </a:tblGrid>
              <a:tr h="3022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OC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Proveedor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Comprador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F.Necesidad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Días vencida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</a:tr>
              <a:tr h="3022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203199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COSTA NORTE LLC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Jesús Manuel Cruz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07-01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C0392B"/>
                          </a:solidFill>
                        </a:rPr>
                        <a:t>18d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22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209389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SANCHEZ CASTRO ANA MARIA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Pablo Arroyo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07-03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C0392B"/>
                          </a:solidFill>
                        </a:rPr>
                        <a:t>16d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22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208607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ABASTECEDORA INDUSTRIAL DE T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Pablo Arroyo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07-03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C0392B"/>
                          </a:solidFill>
                        </a:rPr>
                        <a:t>16d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22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208605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GH PEGASUS S DE RL DE CV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Pablo Arroyo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07-03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C0392B"/>
                          </a:solidFill>
                        </a:rPr>
                        <a:t>16d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22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206057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MOMENTUM TEXTILES LLC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Pablo Arroyo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07-03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C0392B"/>
                          </a:solidFill>
                        </a:rPr>
                        <a:t>16d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22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206046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INOVA CONTROL SA DE CV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Pablo Arroyo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07-03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C0392B"/>
                          </a:solidFill>
                        </a:rPr>
                        <a:t>16d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22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205575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DMI MANUFACTURING, INC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Jesús Manuel Cruz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07-03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C0392B"/>
                          </a:solidFill>
                        </a:rPr>
                        <a:t>16d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22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205566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DMI MANUFACTURING, INC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Jesús Manuel Cruz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07-03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C0392B"/>
                          </a:solidFill>
                        </a:rPr>
                        <a:t>16d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22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205534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COSTA NORTE LLC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Jesús Manuel Cruz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07-03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C0392B"/>
                          </a:solidFill>
                        </a:rPr>
                        <a:t>16d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22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201292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JBI, LLC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Pablo Arroyo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07-03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C0392B"/>
                          </a:solidFill>
                        </a:rPr>
                        <a:t>16d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22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209371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TILE EXPRESS, S.A. DE C.V.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Pablo Arroyo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07-10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C0392B"/>
                          </a:solidFill>
                        </a:rPr>
                        <a:t>9d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22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209350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GALVAN CERVANTES FRANCISCO X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Jesús Manuel Cruz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07-10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C0392B"/>
                          </a:solidFill>
                        </a:rPr>
                        <a:t>9d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22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209347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GALVAN CERVANTES FRANCISCO X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Jesús Manuel Cruz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07-10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C0392B"/>
                          </a:solidFill>
                        </a:rPr>
                        <a:t>9d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22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209218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SERVI QUIM DE MONTERREY SA 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Mario Rosas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07-10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C0392B"/>
                          </a:solidFill>
                        </a:rPr>
                        <a:t>9d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22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208150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MICRO HERROS DE OCCIDENTE SA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Pablo Arroyo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07-10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C0392B"/>
                          </a:solidFill>
                        </a:rPr>
                        <a:t>9d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22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207373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MICRO HERROS DE OCCIDENTE SA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Pablo Arroyo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07-10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C0392B"/>
                          </a:solidFill>
                        </a:rPr>
                        <a:t>9d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22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207371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MICRO HERROS DE OCCIDENTE SA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Pablo Arroyo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07-10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C0392B"/>
                          </a:solidFill>
                        </a:rPr>
                        <a:t>9d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09728"/>
            <a:ext cx="54864" cy="34747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347472" y="7315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VENCIDAS — MRO | 13–19 Jul 2026 (3/3)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858000" y="7315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Afal  |  Costa Norte Food Service Solutions  |  Semana 28–29  |  Seguimiento 13–19 Jul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0" y="6601968"/>
            <a:ext cx="1219169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Afal  |  Costa Norte Food Service Solutions  |  Semana 28–29  |  Seguimiento 13–19 Jul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28600" y="685800"/>
            <a:ext cx="57790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RESUELTAS ENTRE 13 Y 19 DE JULIO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153912" y="685800"/>
            <a:ext cx="57790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SIGUEN ABIERTAS / VENCIDAS AL 19 DE JULIO</a:t>
            </a:r>
            <a:endParaRPr lang="en-US" sz="11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53912" y="941832"/>
          <a:ext cx="5779008" cy="5440680"/>
        </p:xfrm>
        <a:graphic>
          <a:graphicData uri="http://schemas.openxmlformats.org/drawingml/2006/table">
            <a:tbl>
              <a:tblPr/>
              <a:tblGrid>
                <a:gridCol w="594360"/>
                <a:gridCol w="2194560"/>
                <a:gridCol w="1417320"/>
                <a:gridCol w="795528"/>
                <a:gridCol w="777240"/>
              </a:tblGrid>
              <a:tr h="10881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OC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Proveedor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Comprador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F.Necesidad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Días vencida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</a:tr>
              <a:tr h="10881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206089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TECNOLOGIA Y ERGONOMIA TEKER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Pablo Arroyo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07-10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C0392B"/>
                          </a:solidFill>
                        </a:rPr>
                        <a:t>9d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881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206087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MOTION AUTOMATION DE MEXICO 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Pablo Arroyo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07-10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C0392B"/>
                          </a:solidFill>
                        </a:rPr>
                        <a:t>9d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881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206073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GONZALEZ PAREDES ALAN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Pablo Arroyo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07-10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C0392B"/>
                          </a:solidFill>
                        </a:rPr>
                        <a:t>9d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881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206058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DMI MANUFACTURING, INC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Jesús Manuel Cruz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2C3E50"/>
                          </a:solidFill>
                        </a:rPr>
                        <a:t>07-10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C0392B"/>
                          </a:solidFill>
                        </a:rPr>
                        <a:t>9d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09728"/>
            <a:ext cx="54864" cy="34747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347472" y="7315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CONFIRMACIÓN DE ÓRDENES — MATERIA PRIMA (MP) | Fecha Promesa 20–26 Jul 2026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858000" y="7315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Afal  |  Costa Norte Food Service Solutions  |  Semana 30  |  Fecha Promesa 20–26 Jul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0" y="6601968"/>
            <a:ext cx="1219169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Afal  |  Costa Norte Food Service Solutions  |  Semana 30  |  Fecha Promesa 20–26 Jul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56032" y="521208"/>
            <a:ext cx="11430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OCs con fecha promesa del 20 al 26 de julio de 2026, calculado por OC única. #N/A = Confirmada · "PENDIENTE CONFIRMAR" = No confirmada.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56032" y="749808"/>
            <a:ext cx="24231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749808"/>
            <a:ext cx="64008" cy="960120"/>
          </a:xfrm>
          <a:prstGeom prst="rect">
            <a:avLst/>
          </a:prstGeom>
          <a:solidFill>
            <a:srgbClr val="1B4D47"/>
          </a:solidFill>
          <a:ln/>
        </p:spPr>
      </p:sp>
      <p:sp>
        <p:nvSpPr>
          <p:cNvPr id="9" name="Text 7"/>
          <p:cNvSpPr/>
          <p:nvPr/>
        </p:nvSpPr>
        <p:spPr>
          <a:xfrm>
            <a:off x="329184" y="786384"/>
            <a:ext cx="23500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29184" y="1325880"/>
            <a:ext cx="23500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OCs en el periodo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9184" y="1508760"/>
            <a:ext cx="23500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 promesa 20–26 Jul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944368" y="749808"/>
            <a:ext cx="2926080" cy="960120"/>
          </a:xfrm>
          <a:prstGeom prst="roundRect">
            <a:avLst>
              <a:gd name="adj" fmla="val 4762"/>
            </a:avLst>
          </a:prstGeom>
          <a:solidFill>
            <a:srgbClr val="E8F5F3"/>
          </a:solidFill>
          <a:ln/>
        </p:spPr>
      </p:sp>
      <p:sp>
        <p:nvSpPr>
          <p:cNvPr id="13" name="Text 11"/>
          <p:cNvSpPr/>
          <p:nvPr/>
        </p:nvSpPr>
        <p:spPr>
          <a:xfrm>
            <a:off x="2944368" y="786384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944368" y="1325880"/>
            <a:ext cx="2926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Confirmadas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944368" y="1508760"/>
            <a:ext cx="2926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68.6% del total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144768" y="749808"/>
            <a:ext cx="2926080" cy="960120"/>
          </a:xfrm>
          <a:prstGeom prst="roundRect">
            <a:avLst>
              <a:gd name="adj" fmla="val 4762"/>
            </a:avLst>
          </a:prstGeom>
          <a:solidFill>
            <a:srgbClr val="FDECEA"/>
          </a:solidFill>
          <a:ln/>
        </p:spPr>
      </p:sp>
      <p:sp>
        <p:nvSpPr>
          <p:cNvPr id="17" name="Text 15"/>
          <p:cNvSpPr/>
          <p:nvPr/>
        </p:nvSpPr>
        <p:spPr>
          <a:xfrm>
            <a:off x="6144768" y="786384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144768" y="1325880"/>
            <a:ext cx="2926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Pendientes de Confirmar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44768" y="1508760"/>
            <a:ext cx="2926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31.4% del total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56032" y="1837944"/>
            <a:ext cx="7872344" cy="402336"/>
          </a:xfrm>
          <a:prstGeom prst="rect">
            <a:avLst/>
          </a:prstGeom>
          <a:solidFill>
            <a:srgbClr val="009688"/>
          </a:solidFill>
          <a:ln/>
        </p:spPr>
      </p:sp>
      <p:sp>
        <p:nvSpPr>
          <p:cNvPr id="21" name="Shape 19"/>
          <p:cNvSpPr/>
          <p:nvPr/>
        </p:nvSpPr>
        <p:spPr>
          <a:xfrm>
            <a:off x="8128376" y="1837944"/>
            <a:ext cx="3603376" cy="40233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2" name="Text 20"/>
          <p:cNvSpPr/>
          <p:nvPr/>
        </p:nvSpPr>
        <p:spPr>
          <a:xfrm>
            <a:off x="256032" y="1837944"/>
            <a:ext cx="787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68.6%  Confirmadas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128376" y="1837944"/>
            <a:ext cx="3603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31.4%  Pendientes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56032" y="2441448"/>
            <a:ext cx="11475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 por Comprador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2734056"/>
          <a:ext cx="11018520" cy="3108960"/>
        </p:xfrm>
        <a:graphic>
          <a:graphicData uri="http://schemas.openxmlformats.org/drawingml/2006/table">
            <a:tbl>
              <a:tblPr/>
              <a:tblGrid>
                <a:gridCol w="2834640"/>
                <a:gridCol w="1463040"/>
                <a:gridCol w="1097280"/>
                <a:gridCol w="2286000"/>
                <a:gridCol w="1097280"/>
                <a:gridCol w="1234440"/>
                <a:gridCol w="1005840"/>
              </a:tblGrid>
              <a:tr h="4441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Comprador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Confirmadas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% Conf.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Pendientes de Confirmar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% Pend.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Total OCs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% Avance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</a:rPr>
                        <a:t>Victor Galván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</a:rPr>
                        <a:t>21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9688"/>
                          </a:solidFill>
                        </a:rPr>
                        <a:t>43%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</a:rPr>
                        <a:t>28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C0392B"/>
                          </a:solidFill>
                        </a:rPr>
                        <a:t>57%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C3E50"/>
                          </a:solidFill>
                        </a:rPr>
                        <a:t>49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C3E50"/>
                          </a:solidFill>
                        </a:rPr>
                        <a:t>43%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</a:rPr>
                        <a:t>Oswaldo Martínez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</a:rPr>
                        <a:t>41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9688"/>
                          </a:solidFill>
                        </a:rPr>
                        <a:t>98%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C0392B"/>
                          </a:solidFill>
                        </a:rPr>
                        <a:t>2%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C3E50"/>
                          </a:solidFill>
                        </a:rPr>
                        <a:t>42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C3E50"/>
                          </a:solidFill>
                        </a:rPr>
                        <a:t>98%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</a:rPr>
                        <a:t>Mario Rosas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</a:rPr>
                        <a:t>19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9688"/>
                          </a:solidFill>
                        </a:rPr>
                        <a:t>61%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</a:rPr>
                        <a:t>12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C0392B"/>
                          </a:solidFill>
                        </a:rPr>
                        <a:t>39%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C3E50"/>
                          </a:solidFill>
                        </a:rPr>
                        <a:t>31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C3E50"/>
                          </a:solidFill>
                        </a:rPr>
                        <a:t>61%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</a:rPr>
                        <a:t>Antonio de la Cruz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</a:rPr>
                        <a:t>13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9688"/>
                          </a:solidFill>
                        </a:rPr>
                        <a:t>81%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</a:rPr>
                        <a:t>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C0392B"/>
                          </a:solidFill>
                        </a:rPr>
                        <a:t>19%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C3E50"/>
                          </a:solidFill>
                        </a:rPr>
                        <a:t>16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C3E50"/>
                          </a:solidFill>
                        </a:rPr>
                        <a:t>81%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</a:rPr>
                        <a:t>Zulma Valera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</a:rPr>
                        <a:t>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9688"/>
                          </a:solidFill>
                        </a:rPr>
                        <a:t>100%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</a:rPr>
                        <a:t>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C0392B"/>
                          </a:solidFill>
                        </a:rPr>
                        <a:t>0%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C3E50"/>
                          </a:solidFill>
                        </a:rPr>
                        <a:t>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C3E50"/>
                          </a:solidFill>
                        </a:rPr>
                        <a:t>100%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TOTAL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96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69%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44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31%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140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69%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09728"/>
            <a:ext cx="54864" cy="34747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347472" y="7315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CONFIRMACIÓN DE ÓRDENES — MRO | Fecha Promesa 20–26 Jul 2026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858000" y="7315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Afal  |  Costa Norte Food Service Solutions  |  Semana 30  |  Fecha Promesa 20–26 Jul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0" y="6601968"/>
            <a:ext cx="1219169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Afal  |  Costa Norte Food Service Solutions  |  Semana 30  |  Fecha Promesa 20–26 Jul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56032" y="521208"/>
            <a:ext cx="11430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OCs con fecha promesa del 20 al 26 de julio de 2026, calculado por OC única. #N/A = Confirmada · "PENDIENTE CONFIRMAR" = No confirmada.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56032" y="749808"/>
            <a:ext cx="24231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749808"/>
            <a:ext cx="64008" cy="960120"/>
          </a:xfrm>
          <a:prstGeom prst="rect">
            <a:avLst/>
          </a:prstGeom>
          <a:solidFill>
            <a:srgbClr val="1B4D47"/>
          </a:solidFill>
          <a:ln/>
        </p:spPr>
      </p:sp>
      <p:sp>
        <p:nvSpPr>
          <p:cNvPr id="9" name="Text 7"/>
          <p:cNvSpPr/>
          <p:nvPr/>
        </p:nvSpPr>
        <p:spPr>
          <a:xfrm>
            <a:off x="329184" y="786384"/>
            <a:ext cx="23500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29184" y="1325880"/>
            <a:ext cx="23500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OCs en el periodo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9184" y="1508760"/>
            <a:ext cx="23500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 promesa 20–26 Jul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944368" y="749808"/>
            <a:ext cx="2926080" cy="960120"/>
          </a:xfrm>
          <a:prstGeom prst="roundRect">
            <a:avLst>
              <a:gd name="adj" fmla="val 4762"/>
            </a:avLst>
          </a:prstGeom>
          <a:solidFill>
            <a:srgbClr val="E8F5F3"/>
          </a:solidFill>
          <a:ln/>
        </p:spPr>
      </p:sp>
      <p:sp>
        <p:nvSpPr>
          <p:cNvPr id="13" name="Text 11"/>
          <p:cNvSpPr/>
          <p:nvPr/>
        </p:nvSpPr>
        <p:spPr>
          <a:xfrm>
            <a:off x="2944368" y="786384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944368" y="1325880"/>
            <a:ext cx="2926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Confirmadas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944368" y="1508760"/>
            <a:ext cx="2926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88.6% del total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144768" y="749808"/>
            <a:ext cx="2926080" cy="960120"/>
          </a:xfrm>
          <a:prstGeom prst="roundRect">
            <a:avLst>
              <a:gd name="adj" fmla="val 4762"/>
            </a:avLst>
          </a:prstGeom>
          <a:solidFill>
            <a:srgbClr val="FDECEA"/>
          </a:solidFill>
          <a:ln/>
        </p:spPr>
      </p:sp>
      <p:sp>
        <p:nvSpPr>
          <p:cNvPr id="17" name="Text 15"/>
          <p:cNvSpPr/>
          <p:nvPr/>
        </p:nvSpPr>
        <p:spPr>
          <a:xfrm>
            <a:off x="6144768" y="786384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144768" y="1325880"/>
            <a:ext cx="2926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Pendientes de Confirmar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44768" y="1508760"/>
            <a:ext cx="2926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11.4% del total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56032" y="1837944"/>
            <a:ext cx="10167488" cy="402336"/>
          </a:xfrm>
          <a:prstGeom prst="rect">
            <a:avLst/>
          </a:prstGeom>
          <a:solidFill>
            <a:srgbClr val="009688"/>
          </a:solidFill>
          <a:ln/>
        </p:spPr>
      </p:sp>
      <p:sp>
        <p:nvSpPr>
          <p:cNvPr id="21" name="Shape 19"/>
          <p:cNvSpPr/>
          <p:nvPr/>
        </p:nvSpPr>
        <p:spPr>
          <a:xfrm>
            <a:off x="10423520" y="1837944"/>
            <a:ext cx="1308232" cy="40233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2" name="Text 20"/>
          <p:cNvSpPr/>
          <p:nvPr/>
        </p:nvSpPr>
        <p:spPr>
          <a:xfrm>
            <a:off x="256032" y="1837944"/>
            <a:ext cx="10167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88.6%  Confirmadas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423520" y="1837944"/>
            <a:ext cx="1308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11.4%  Pendientes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56032" y="2441448"/>
            <a:ext cx="11475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 por Comprador</a:t>
            </a:r>
            <a:endParaRPr lang="en-US" sz="1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2734056"/>
          <a:ext cx="11018520" cy="3108960"/>
        </p:xfrm>
        <a:graphic>
          <a:graphicData uri="http://schemas.openxmlformats.org/drawingml/2006/table">
            <a:tbl>
              <a:tblPr/>
              <a:tblGrid>
                <a:gridCol w="2834640"/>
                <a:gridCol w="1463040"/>
                <a:gridCol w="1097280"/>
                <a:gridCol w="2286000"/>
                <a:gridCol w="1097280"/>
                <a:gridCol w="1234440"/>
                <a:gridCol w="1005840"/>
              </a:tblGrid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Comprador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Confirmadas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% Conf.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Pendientes de Confirmar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% Pend.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Total OCs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% Avance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7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</a:rPr>
                        <a:t>Jesús Manuel Cruz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</a:rPr>
                        <a:t>32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9688"/>
                          </a:solidFill>
                        </a:rPr>
                        <a:t>89%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</a:rPr>
                        <a:t>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C0392B"/>
                          </a:solidFill>
                        </a:rPr>
                        <a:t>11%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C3E50"/>
                          </a:solidFill>
                        </a:rPr>
                        <a:t>36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C3E50"/>
                          </a:solidFill>
                        </a:rPr>
                        <a:t>89%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</a:rPr>
                        <a:t>Pablo Arroyo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</a:rPr>
                        <a:t>7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9688"/>
                          </a:solidFill>
                        </a:rPr>
                        <a:t>100%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</a:rPr>
                        <a:t>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C0392B"/>
                          </a:solidFill>
                        </a:rPr>
                        <a:t>0%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C3E50"/>
                          </a:solidFill>
                        </a:rPr>
                        <a:t>7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C3E50"/>
                          </a:solidFill>
                        </a:rPr>
                        <a:t>100%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</a:rPr>
                        <a:t>Rocio Castañeda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</a:rPr>
                        <a:t>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9688"/>
                          </a:solidFill>
                        </a:rPr>
                        <a:t>0%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C0392B"/>
                          </a:solidFill>
                        </a:rPr>
                        <a:t>100%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C3E50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C3E50"/>
                          </a:solidFill>
                        </a:rPr>
                        <a:t>0%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TOTAL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39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89%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11%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44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89%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3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0" y="246888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828800" y="352044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B8C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Suministros  |  Julio 2026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A5F5A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Afal   |   Costa Norte Food Service Solutions   |   Julio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2026-07-20T04:43:29Z</dcterms:created>
  <dcterms:modified xsi:type="dcterms:W3CDTF">2026-07-20T04:43:29Z</dcterms:modified>
</cp:coreProperties>
</file>